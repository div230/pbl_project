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Figtree"/>
      <p:regular r:id="rId25"/>
      <p:bold r:id="rId26"/>
      <p:italic r:id="rId27"/>
      <p:boldItalic r:id="rId28"/>
    </p:embeddedFont>
    <p:embeddedFont>
      <p:font typeface="Noto Sans Symbols"/>
      <p:regular r:id="rId29"/>
      <p:bold r:id="rId30"/>
    </p:embeddedFont>
    <p:embeddedFont>
      <p:font typeface="Karl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iTkJlH1Awnwc08teV0GeB/VoAP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igtree-bold.fntdata"/><Relationship Id="rId25" Type="http://schemas.openxmlformats.org/officeDocument/2006/relationships/font" Target="fonts/Figtree-regular.fntdata"/><Relationship Id="rId28" Type="http://schemas.openxmlformats.org/officeDocument/2006/relationships/font" Target="fonts/Figtree-boldItalic.fntdata"/><Relationship Id="rId27" Type="http://schemas.openxmlformats.org/officeDocument/2006/relationships/font" Target="fonts/Figtree-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NotoSansSymbols-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Karla-regular.fntdata"/><Relationship Id="rId30" Type="http://schemas.openxmlformats.org/officeDocument/2006/relationships/font" Target="fonts/NotoSansSymbols-bold.fntdata"/><Relationship Id="rId11" Type="http://schemas.openxmlformats.org/officeDocument/2006/relationships/slide" Target="slides/slide7.xml"/><Relationship Id="rId33" Type="http://schemas.openxmlformats.org/officeDocument/2006/relationships/font" Target="fonts/Karla-italic.fntdata"/><Relationship Id="rId10" Type="http://schemas.openxmlformats.org/officeDocument/2006/relationships/slide" Target="slides/slide6.xml"/><Relationship Id="rId32" Type="http://schemas.openxmlformats.org/officeDocument/2006/relationships/font" Target="fonts/Karla-bold.fntdata"/><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Karla-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e4778b375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3de4778b37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5a750699b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d5a750699b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10" name="Shape 10"/>
        <p:cNvGrpSpPr/>
        <p:nvPr/>
      </p:nvGrpSpPr>
      <p:grpSpPr>
        <a:xfrm>
          <a:off x="0" y="0"/>
          <a:ext cx="0" cy="0"/>
          <a:chOff x="0" y="0"/>
          <a:chExt cx="0" cy="0"/>
        </a:xfrm>
      </p:grpSpPr>
      <p:pic>
        <p:nvPicPr>
          <p:cNvPr id="11" name="Google Shape;11;p20"/>
          <p:cNvPicPr preferRelativeResize="0"/>
          <p:nvPr/>
        </p:nvPicPr>
        <p:blipFill rotWithShape="1">
          <a:blip r:embed="rId2">
            <a:alphaModFix/>
          </a:blip>
          <a:srcRect b="827" l="827" r="827" t="827"/>
          <a:stretch/>
        </p:blipFill>
        <p:spPr>
          <a:xfrm>
            <a:off x="0" y="0"/>
            <a:ext cx="9143640" cy="5142960"/>
          </a:xfrm>
          <a:prstGeom prst="rect">
            <a:avLst/>
          </a:prstGeom>
          <a:noFill/>
          <a:ln>
            <a:noFill/>
          </a:ln>
        </p:spPr>
      </p:pic>
      <p:sp>
        <p:nvSpPr>
          <p:cNvPr id="12" name="Google Shape;12;p20"/>
          <p:cNvSpPr txBox="1"/>
          <p:nvPr>
            <p:ph type="title"/>
          </p:nvPr>
        </p:nvSpPr>
        <p:spPr>
          <a:xfrm>
            <a:off x="228600" y="1102320"/>
            <a:ext cx="8686440" cy="16466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ype="blank">
  <p:cSld name="BLANK">
    <p:bg>
      <p:bgPr>
        <a:solidFill>
          <a:schemeClr val="lt1"/>
        </a:solidFill>
      </p:bgPr>
    </p:bg>
    <p:spTree>
      <p:nvGrpSpPr>
        <p:cNvPr id="14" name="Shape 14"/>
        <p:cNvGrpSpPr/>
        <p:nvPr/>
      </p:nvGrpSpPr>
      <p:grpSpPr>
        <a:xfrm>
          <a:off x="0" y="0"/>
          <a:ext cx="0" cy="0"/>
          <a:chOff x="0" y="0"/>
          <a:chExt cx="0" cy="0"/>
        </a:xfrm>
      </p:grpSpPr>
      <p:pic>
        <p:nvPicPr>
          <p:cNvPr id="15" name="Google Shape;15;p21"/>
          <p:cNvPicPr preferRelativeResize="0"/>
          <p:nvPr/>
        </p:nvPicPr>
        <p:blipFill rotWithShape="1">
          <a:blip r:embed="rId2">
            <a:alphaModFix/>
          </a:blip>
          <a:srcRect b="417" l="0" r="832" t="417"/>
          <a:stretch/>
        </p:blipFill>
        <p:spPr>
          <a:xfrm>
            <a:off x="0" y="0"/>
            <a:ext cx="9143640" cy="5143320"/>
          </a:xfrm>
          <a:prstGeom prst="rect">
            <a:avLst/>
          </a:prstGeom>
          <a:noFill/>
          <a:ln>
            <a:noFill/>
          </a:ln>
        </p:spPr>
      </p:pic>
      <p:sp>
        <p:nvSpPr>
          <p:cNvPr id="16" name="Google Shape;16;p21"/>
          <p:cNvSpPr txBox="1"/>
          <p:nvPr>
            <p:ph type="title"/>
          </p:nvPr>
        </p:nvSpPr>
        <p:spPr>
          <a:xfrm>
            <a:off x="228600" y="228600"/>
            <a:ext cx="8686440" cy="10515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2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chemeClr val="lt1"/>
        </a:solidFill>
      </p:bgPr>
    </p:bg>
    <p:spTree>
      <p:nvGrpSpPr>
        <p:cNvPr id="18" name="Shape 18"/>
        <p:cNvGrpSpPr/>
        <p:nvPr/>
      </p:nvGrpSpPr>
      <p:grpSpPr>
        <a:xfrm>
          <a:off x="0" y="0"/>
          <a:ext cx="0" cy="0"/>
          <a:chOff x="0" y="0"/>
          <a:chExt cx="0" cy="0"/>
        </a:xfrm>
      </p:grpSpPr>
      <p:pic>
        <p:nvPicPr>
          <p:cNvPr id="19" name="Google Shape;19;p22"/>
          <p:cNvPicPr preferRelativeResize="0"/>
          <p:nvPr/>
        </p:nvPicPr>
        <p:blipFill rotWithShape="1">
          <a:blip r:embed="rId2">
            <a:alphaModFix/>
          </a:blip>
          <a:srcRect b="827" l="827" r="827" t="827"/>
          <a:stretch/>
        </p:blipFill>
        <p:spPr>
          <a:xfrm>
            <a:off x="0" y="0"/>
            <a:ext cx="9143640" cy="5142960"/>
          </a:xfrm>
          <a:prstGeom prst="rect">
            <a:avLst/>
          </a:prstGeom>
          <a:noFill/>
          <a:ln>
            <a:noFill/>
          </a:ln>
        </p:spPr>
      </p:pic>
      <p:sp>
        <p:nvSpPr>
          <p:cNvPr id="20" name="Google Shape;20;p22"/>
          <p:cNvSpPr txBox="1"/>
          <p:nvPr>
            <p:ph type="title"/>
          </p:nvPr>
        </p:nvSpPr>
        <p:spPr>
          <a:xfrm>
            <a:off x="635400" y="3071520"/>
            <a:ext cx="3877920" cy="89856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22"/>
          <p:cNvSpPr txBox="1"/>
          <p:nvPr>
            <p:ph idx="2" type="title"/>
          </p:nvPr>
        </p:nvSpPr>
        <p:spPr>
          <a:xfrm>
            <a:off x="4630320" y="1858680"/>
            <a:ext cx="3877920" cy="89856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1"/>
        </a:solidFill>
      </p:bgPr>
    </p:bg>
    <p:spTree>
      <p:nvGrpSpPr>
        <p:cNvPr id="22" name="Shape 22"/>
        <p:cNvGrpSpPr/>
        <p:nvPr/>
      </p:nvGrpSpPr>
      <p:grpSpPr>
        <a:xfrm>
          <a:off x="0" y="0"/>
          <a:ext cx="0" cy="0"/>
          <a:chOff x="0" y="0"/>
          <a:chExt cx="0" cy="0"/>
        </a:xfrm>
      </p:grpSpPr>
      <p:pic>
        <p:nvPicPr>
          <p:cNvPr id="23" name="Google Shape;23;p23"/>
          <p:cNvPicPr preferRelativeResize="0"/>
          <p:nvPr/>
        </p:nvPicPr>
        <p:blipFill rotWithShape="1">
          <a:blip r:embed="rId2">
            <a:alphaModFix/>
          </a:blip>
          <a:srcRect b="827" l="827" r="827" t="827"/>
          <a:stretch/>
        </p:blipFill>
        <p:spPr>
          <a:xfrm>
            <a:off x="0" y="0"/>
            <a:ext cx="9143640" cy="5142960"/>
          </a:xfrm>
          <a:prstGeom prst="rect">
            <a:avLst/>
          </a:prstGeom>
          <a:noFill/>
          <a:ln>
            <a:noFill/>
          </a:ln>
        </p:spPr>
      </p:pic>
      <p:sp>
        <p:nvSpPr>
          <p:cNvPr id="24" name="Google Shape;24;p23"/>
          <p:cNvSpPr txBox="1"/>
          <p:nvPr>
            <p:ph hasCustomPrompt="1" type="title"/>
          </p:nvPr>
        </p:nvSpPr>
        <p:spPr>
          <a:xfrm>
            <a:off x="1284120" y="1953000"/>
            <a:ext cx="6575760" cy="799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t>xx%</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rgbClr val="FFFFFF"/>
        </a:solidFill>
      </p:bgPr>
    </p:bg>
    <p:spTree>
      <p:nvGrpSpPr>
        <p:cNvPr id="25"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2_1">
  <p:cSld name="BLANK_1_1_1_1_2_1">
    <p:bg>
      <p:bgPr>
        <a:solidFill>
          <a:schemeClr val="lt1"/>
        </a:solidFill>
      </p:bgPr>
    </p:bg>
    <p:spTree>
      <p:nvGrpSpPr>
        <p:cNvPr id="26" name="Shape 26"/>
        <p:cNvGrpSpPr/>
        <p:nvPr/>
      </p:nvGrpSpPr>
      <p:grpSpPr>
        <a:xfrm>
          <a:off x="0" y="0"/>
          <a:ext cx="0" cy="0"/>
          <a:chOff x="0" y="0"/>
          <a:chExt cx="0" cy="0"/>
        </a:xfrm>
      </p:grpSpPr>
      <p:pic>
        <p:nvPicPr>
          <p:cNvPr id="27" name="Google Shape;27;p25"/>
          <p:cNvPicPr preferRelativeResize="0"/>
          <p:nvPr/>
        </p:nvPicPr>
        <p:blipFill rotWithShape="1">
          <a:blip r:embed="rId2">
            <a:alphaModFix/>
          </a:blip>
          <a:srcRect b="932" l="961" r="950" t="922"/>
          <a:stretch/>
        </p:blipFill>
        <p:spPr>
          <a:xfrm flipH="1">
            <a:off x="5400" y="0"/>
            <a:ext cx="9138600" cy="5143320"/>
          </a:xfrm>
          <a:prstGeom prst="rect">
            <a:avLst/>
          </a:prstGeom>
          <a:noFill/>
          <a:ln>
            <a:noFill/>
          </a:ln>
        </p:spPr>
      </p:pic>
      <p:sp>
        <p:nvSpPr>
          <p:cNvPr id="28" name="Google Shape;28;p25"/>
          <p:cNvSpPr txBox="1"/>
          <p:nvPr>
            <p:ph type="title"/>
          </p:nvPr>
        </p:nvSpPr>
        <p:spPr>
          <a:xfrm>
            <a:off x="228600" y="228600"/>
            <a:ext cx="8686440" cy="8222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25"/>
          <p:cNvSpPr txBox="1"/>
          <p:nvPr>
            <p:ph idx="2" type="title"/>
          </p:nvPr>
        </p:nvSpPr>
        <p:spPr>
          <a:xfrm>
            <a:off x="7034760" y="2030040"/>
            <a:ext cx="62532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25"/>
          <p:cNvSpPr txBox="1"/>
          <p:nvPr>
            <p:ph idx="3" type="title"/>
          </p:nvPr>
        </p:nvSpPr>
        <p:spPr>
          <a:xfrm>
            <a:off x="2498400" y="2030040"/>
            <a:ext cx="62532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25"/>
          <p:cNvSpPr txBox="1"/>
          <p:nvPr>
            <p:ph idx="4" type="title"/>
          </p:nvPr>
        </p:nvSpPr>
        <p:spPr>
          <a:xfrm>
            <a:off x="231120" y="2030040"/>
            <a:ext cx="62424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5"/>
          <p:cNvSpPr txBox="1"/>
          <p:nvPr>
            <p:ph idx="5" type="title"/>
          </p:nvPr>
        </p:nvSpPr>
        <p:spPr>
          <a:xfrm>
            <a:off x="4766400" y="2030040"/>
            <a:ext cx="62532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25"/>
          <p:cNvSpPr txBox="1"/>
          <p:nvPr>
            <p:ph idx="6" type="title"/>
          </p:nvPr>
        </p:nvSpPr>
        <p:spPr>
          <a:xfrm>
            <a:off x="2499840" y="3377160"/>
            <a:ext cx="62424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25"/>
          <p:cNvSpPr txBox="1"/>
          <p:nvPr>
            <p:ph idx="7" type="title"/>
          </p:nvPr>
        </p:nvSpPr>
        <p:spPr>
          <a:xfrm>
            <a:off x="4767480" y="3377160"/>
            <a:ext cx="62424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25"/>
          <p:cNvSpPr txBox="1"/>
          <p:nvPr>
            <p:ph idx="8" type="title"/>
          </p:nvPr>
        </p:nvSpPr>
        <p:spPr>
          <a:xfrm>
            <a:off x="7034760" y="3377160"/>
            <a:ext cx="62424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 name="Google Shape;36;p25"/>
          <p:cNvSpPr txBox="1"/>
          <p:nvPr>
            <p:ph idx="9" type="title"/>
          </p:nvPr>
        </p:nvSpPr>
        <p:spPr>
          <a:xfrm>
            <a:off x="232200" y="3377160"/>
            <a:ext cx="624240" cy="4888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chemeClr val="lt1"/>
        </a:solidFill>
      </p:bgPr>
    </p:bg>
    <p:spTree>
      <p:nvGrpSpPr>
        <p:cNvPr id="37" name="Shape 37"/>
        <p:cNvGrpSpPr/>
        <p:nvPr/>
      </p:nvGrpSpPr>
      <p:grpSpPr>
        <a:xfrm>
          <a:off x="0" y="0"/>
          <a:ext cx="0" cy="0"/>
          <a:chOff x="0" y="0"/>
          <a:chExt cx="0" cy="0"/>
        </a:xfrm>
      </p:grpSpPr>
      <p:pic>
        <p:nvPicPr>
          <p:cNvPr id="38" name="Google Shape;38;p26"/>
          <p:cNvPicPr preferRelativeResize="0"/>
          <p:nvPr/>
        </p:nvPicPr>
        <p:blipFill rotWithShape="1">
          <a:blip r:embed="rId2">
            <a:alphaModFix/>
          </a:blip>
          <a:srcRect b="1854" l="513" r="513" t="0"/>
          <a:stretch/>
        </p:blipFill>
        <p:spPr>
          <a:xfrm>
            <a:off x="0" y="0"/>
            <a:ext cx="9143640" cy="5143320"/>
          </a:xfrm>
          <a:prstGeom prst="rect">
            <a:avLst/>
          </a:prstGeom>
          <a:noFill/>
          <a:ln>
            <a:noFill/>
          </a:ln>
        </p:spPr>
      </p:pic>
      <p:sp>
        <p:nvSpPr>
          <p:cNvPr id="39" name="Google Shape;39;p26"/>
          <p:cNvSpPr txBox="1"/>
          <p:nvPr>
            <p:ph type="title"/>
          </p:nvPr>
        </p:nvSpPr>
        <p:spPr>
          <a:xfrm>
            <a:off x="233640" y="228600"/>
            <a:ext cx="8686440" cy="8222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0" name="Google Shape;40;p26"/>
          <p:cNvSpPr txBox="1"/>
          <p:nvPr>
            <p:ph idx="1" type="body"/>
          </p:nvPr>
        </p:nvSpPr>
        <p:spPr>
          <a:xfrm>
            <a:off x="228600" y="1370160"/>
            <a:ext cx="3697560" cy="3544560"/>
          </a:xfrm>
          <a:prstGeom prst="rect">
            <a:avLst/>
          </a:prstGeom>
          <a:noFill/>
          <a:ln>
            <a:noFill/>
          </a:ln>
        </p:spPr>
        <p:txBody>
          <a:bodyPr anchorCtr="0" anchor="b"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1" name="Google Shape;41;p26"/>
          <p:cNvSpPr txBox="1"/>
          <p:nvPr>
            <p:ph idx="2" type="body"/>
          </p:nvPr>
        </p:nvSpPr>
        <p:spPr>
          <a:xfrm>
            <a:off x="4572360" y="1524960"/>
            <a:ext cx="4236840" cy="31251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bg>
      <p:bgPr>
        <a:solidFill>
          <a:schemeClr val="lt1"/>
        </a:solidFill>
      </p:bgPr>
    </p:bg>
    <p:spTree>
      <p:nvGrpSpPr>
        <p:cNvPr id="42" name="Shape 42"/>
        <p:cNvGrpSpPr/>
        <p:nvPr/>
      </p:nvGrpSpPr>
      <p:grpSpPr>
        <a:xfrm>
          <a:off x="0" y="0"/>
          <a:ext cx="0" cy="0"/>
          <a:chOff x="0" y="0"/>
          <a:chExt cx="0" cy="0"/>
        </a:xfrm>
      </p:grpSpPr>
      <p:pic>
        <p:nvPicPr>
          <p:cNvPr id="43" name="Google Shape;43;p27"/>
          <p:cNvPicPr preferRelativeResize="0"/>
          <p:nvPr/>
        </p:nvPicPr>
        <p:blipFill rotWithShape="1">
          <a:blip r:embed="rId2">
            <a:alphaModFix/>
          </a:blip>
          <a:srcRect b="922" l="1755" r="98" t="932"/>
          <a:stretch/>
        </p:blipFill>
        <p:spPr>
          <a:xfrm flipH="1">
            <a:off x="360" y="0"/>
            <a:ext cx="9143640" cy="5143320"/>
          </a:xfrm>
          <a:prstGeom prst="rect">
            <a:avLst/>
          </a:prstGeom>
          <a:noFill/>
          <a:ln>
            <a:noFill/>
          </a:ln>
        </p:spPr>
      </p:pic>
      <p:sp>
        <p:nvSpPr>
          <p:cNvPr id="44" name="Google Shape;44;p27"/>
          <p:cNvSpPr txBox="1"/>
          <p:nvPr>
            <p:ph type="title"/>
          </p:nvPr>
        </p:nvSpPr>
        <p:spPr>
          <a:xfrm>
            <a:off x="228600" y="228600"/>
            <a:ext cx="8686440" cy="8222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2">
  <p:cSld name="BLANK_1_1_1_2">
    <p:bg>
      <p:bgPr>
        <a:solidFill>
          <a:schemeClr val="lt1"/>
        </a:solidFill>
      </p:bgPr>
    </p:bg>
    <p:spTree>
      <p:nvGrpSpPr>
        <p:cNvPr id="45" name="Shape 45"/>
        <p:cNvGrpSpPr/>
        <p:nvPr/>
      </p:nvGrpSpPr>
      <p:grpSpPr>
        <a:xfrm>
          <a:off x="0" y="0"/>
          <a:ext cx="0" cy="0"/>
          <a:chOff x="0" y="0"/>
          <a:chExt cx="0" cy="0"/>
        </a:xfrm>
      </p:grpSpPr>
      <p:pic>
        <p:nvPicPr>
          <p:cNvPr id="46" name="Google Shape;46;p28"/>
          <p:cNvPicPr preferRelativeResize="0"/>
          <p:nvPr/>
        </p:nvPicPr>
        <p:blipFill rotWithShape="1">
          <a:blip r:embed="rId2">
            <a:alphaModFix/>
          </a:blip>
          <a:srcRect b="417" l="0" r="832" t="417"/>
          <a:stretch/>
        </p:blipFill>
        <p:spPr>
          <a:xfrm>
            <a:off x="0" y="0"/>
            <a:ext cx="9143640" cy="5143320"/>
          </a:xfrm>
          <a:prstGeom prst="rect">
            <a:avLst/>
          </a:prstGeom>
          <a:noFill/>
          <a:ln>
            <a:noFill/>
          </a:ln>
        </p:spPr>
      </p:pic>
      <p:sp>
        <p:nvSpPr>
          <p:cNvPr id="47" name="Google Shape;47;p28"/>
          <p:cNvSpPr txBox="1"/>
          <p:nvPr>
            <p:ph type="title"/>
          </p:nvPr>
        </p:nvSpPr>
        <p:spPr>
          <a:xfrm>
            <a:off x="228600" y="3336480"/>
            <a:ext cx="1634760" cy="119232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28"/>
          <p:cNvSpPr txBox="1"/>
          <p:nvPr>
            <p:ph idx="2" type="title"/>
          </p:nvPr>
        </p:nvSpPr>
        <p:spPr>
          <a:xfrm>
            <a:off x="4882680" y="2006280"/>
            <a:ext cx="1634760" cy="119232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28"/>
          <p:cNvSpPr txBox="1"/>
          <p:nvPr>
            <p:ph idx="3" type="title"/>
          </p:nvPr>
        </p:nvSpPr>
        <p:spPr>
          <a:xfrm>
            <a:off x="4882680" y="3336480"/>
            <a:ext cx="1634760" cy="119232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28"/>
          <p:cNvSpPr txBox="1"/>
          <p:nvPr>
            <p:ph idx="4" type="title"/>
          </p:nvPr>
        </p:nvSpPr>
        <p:spPr>
          <a:xfrm>
            <a:off x="228600" y="462240"/>
            <a:ext cx="8686440" cy="5886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
  <p:cSld name="BLANK_1_1_1_1_1">
    <p:bg>
      <p:bgPr>
        <a:solidFill>
          <a:schemeClr val="lt1"/>
        </a:solidFill>
      </p:bgPr>
    </p:bg>
    <p:spTree>
      <p:nvGrpSpPr>
        <p:cNvPr id="51" name="Shape 51"/>
        <p:cNvGrpSpPr/>
        <p:nvPr/>
      </p:nvGrpSpPr>
      <p:grpSpPr>
        <a:xfrm>
          <a:off x="0" y="0"/>
          <a:ext cx="0" cy="0"/>
          <a:chOff x="0" y="0"/>
          <a:chExt cx="0" cy="0"/>
        </a:xfrm>
      </p:grpSpPr>
      <p:pic>
        <p:nvPicPr>
          <p:cNvPr id="52" name="Google Shape;52;p29"/>
          <p:cNvPicPr preferRelativeResize="0"/>
          <p:nvPr/>
        </p:nvPicPr>
        <p:blipFill rotWithShape="1">
          <a:blip r:embed="rId2">
            <a:alphaModFix/>
          </a:blip>
          <a:srcRect b="922" l="1755" r="98" t="942"/>
          <a:stretch/>
        </p:blipFill>
        <p:spPr>
          <a:xfrm flipH="1">
            <a:off x="360" y="0"/>
            <a:ext cx="9143640" cy="5143320"/>
          </a:xfrm>
          <a:prstGeom prst="rect">
            <a:avLst/>
          </a:prstGeom>
          <a:noFill/>
          <a:ln>
            <a:noFill/>
          </a:ln>
        </p:spPr>
      </p:pic>
      <p:sp>
        <p:nvSpPr>
          <p:cNvPr id="53" name="Google Shape;53;p29"/>
          <p:cNvSpPr txBox="1"/>
          <p:nvPr>
            <p:ph type="title"/>
          </p:nvPr>
        </p:nvSpPr>
        <p:spPr>
          <a:xfrm>
            <a:off x="4572000" y="3398760"/>
            <a:ext cx="590760" cy="73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29"/>
          <p:cNvSpPr txBox="1"/>
          <p:nvPr>
            <p:ph idx="2" type="title"/>
          </p:nvPr>
        </p:nvSpPr>
        <p:spPr>
          <a:xfrm>
            <a:off x="228600" y="3398760"/>
            <a:ext cx="590760" cy="73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29"/>
          <p:cNvSpPr txBox="1"/>
          <p:nvPr>
            <p:ph idx="3" type="title"/>
          </p:nvPr>
        </p:nvSpPr>
        <p:spPr>
          <a:xfrm>
            <a:off x="228600" y="2512800"/>
            <a:ext cx="589680" cy="73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6" name="Google Shape;56;p29"/>
          <p:cNvSpPr txBox="1"/>
          <p:nvPr>
            <p:ph idx="4" type="title"/>
          </p:nvPr>
        </p:nvSpPr>
        <p:spPr>
          <a:xfrm>
            <a:off x="4572000" y="2512800"/>
            <a:ext cx="590760" cy="73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29"/>
          <p:cNvSpPr txBox="1"/>
          <p:nvPr>
            <p:ph idx="5" type="title"/>
          </p:nvPr>
        </p:nvSpPr>
        <p:spPr>
          <a:xfrm>
            <a:off x="228600" y="1626840"/>
            <a:ext cx="590760" cy="73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p29"/>
          <p:cNvSpPr txBox="1"/>
          <p:nvPr>
            <p:ph idx="6" type="title"/>
          </p:nvPr>
        </p:nvSpPr>
        <p:spPr>
          <a:xfrm>
            <a:off x="4572000" y="1626840"/>
            <a:ext cx="590760" cy="73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29"/>
          <p:cNvSpPr txBox="1"/>
          <p:nvPr>
            <p:ph idx="7" type="title"/>
          </p:nvPr>
        </p:nvSpPr>
        <p:spPr>
          <a:xfrm>
            <a:off x="228600" y="462240"/>
            <a:ext cx="8686440" cy="5886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60" name="Shape 60"/>
        <p:cNvGrpSpPr/>
        <p:nvPr/>
      </p:nvGrpSpPr>
      <p:grpSpPr>
        <a:xfrm>
          <a:off x="0" y="0"/>
          <a:ext cx="0" cy="0"/>
          <a:chOff x="0" y="0"/>
          <a:chExt cx="0" cy="0"/>
        </a:xfrm>
      </p:grpSpPr>
      <p:pic>
        <p:nvPicPr>
          <p:cNvPr id="61" name="Google Shape;61;p30"/>
          <p:cNvPicPr preferRelativeResize="0"/>
          <p:nvPr/>
        </p:nvPicPr>
        <p:blipFill rotWithShape="1">
          <a:blip r:embed="rId2">
            <a:alphaModFix/>
          </a:blip>
          <a:srcRect b="827" l="827" r="827" t="827"/>
          <a:stretch/>
        </p:blipFill>
        <p:spPr>
          <a:xfrm>
            <a:off x="0" y="0"/>
            <a:ext cx="9143640" cy="5143320"/>
          </a:xfrm>
          <a:prstGeom prst="rect">
            <a:avLst/>
          </a:prstGeom>
          <a:noFill/>
          <a:ln>
            <a:noFill/>
          </a:ln>
        </p:spPr>
      </p:pic>
      <p:sp>
        <p:nvSpPr>
          <p:cNvPr id="62" name="Google Shape;62;p30"/>
          <p:cNvSpPr txBox="1"/>
          <p:nvPr>
            <p:ph type="title"/>
          </p:nvPr>
        </p:nvSpPr>
        <p:spPr>
          <a:xfrm>
            <a:off x="4767840" y="1742400"/>
            <a:ext cx="3737520" cy="110448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3" name="Google Shape;63;p30"/>
          <p:cNvSpPr/>
          <p:nvPr/>
        </p:nvSpPr>
        <p:spPr>
          <a:xfrm>
            <a:off x="5591520" y="2936520"/>
            <a:ext cx="2913840" cy="7398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None/>
            </a:pPr>
            <a:r>
              <a:rPr b="1" lang="en-US" sz="1000" u="none" strike="noStrike">
                <a:solidFill>
                  <a:schemeClr val="dk1"/>
                </a:solidFill>
                <a:latin typeface="Karla"/>
                <a:ea typeface="Karla"/>
                <a:cs typeface="Karla"/>
                <a:sym typeface="Karla"/>
              </a:rPr>
              <a:t>CREDITS:</a:t>
            </a:r>
            <a:r>
              <a:rPr b="0" lang="en-US" sz="1000" u="none" strike="noStrike">
                <a:solidFill>
                  <a:schemeClr val="dk1"/>
                </a:solidFill>
                <a:latin typeface="Karla"/>
                <a:ea typeface="Karla"/>
                <a:cs typeface="Karla"/>
                <a:sym typeface="Karla"/>
              </a:rPr>
              <a:t> This presentation template was created by </a:t>
            </a:r>
            <a:r>
              <a:rPr b="1" lang="en-US" sz="1000" u="sng" strike="noStrike">
                <a:solidFill>
                  <a:schemeClr val="dk1"/>
                </a:solidFill>
                <a:latin typeface="Karla"/>
                <a:ea typeface="Karla"/>
                <a:cs typeface="Karla"/>
                <a:sym typeface="Karla"/>
                <a:hlinkClick r:id="rId3">
                  <a:extLst>
                    <a:ext uri="{A12FA001-AC4F-418D-AE19-62706E023703}">
                      <ahyp:hlinkClr val="tx"/>
                    </a:ext>
                  </a:extLst>
                </a:hlinkClick>
              </a:rPr>
              <a:t>Slidesgo</a:t>
            </a:r>
            <a:r>
              <a:rPr b="0" lang="en-US" sz="1000" u="none" strike="noStrike">
                <a:solidFill>
                  <a:schemeClr val="dk1"/>
                </a:solidFill>
                <a:latin typeface="Karla"/>
                <a:ea typeface="Karla"/>
                <a:cs typeface="Karla"/>
                <a:sym typeface="Karla"/>
              </a:rPr>
              <a:t>, and includes icons, infographics &amp; images by </a:t>
            </a:r>
            <a:r>
              <a:rPr b="1" lang="en-US" sz="1000" u="sng" strike="noStrike">
                <a:solidFill>
                  <a:schemeClr val="dk1"/>
                </a:solidFill>
                <a:latin typeface="Karla"/>
                <a:ea typeface="Karla"/>
                <a:cs typeface="Karla"/>
                <a:sym typeface="Karla"/>
                <a:hlinkClick r:id="rId4">
                  <a:extLst>
                    <a:ext uri="{A12FA001-AC4F-418D-AE19-62706E023703}">
                      <ahyp:hlinkClr val="tx"/>
                    </a:ext>
                  </a:extLst>
                </a:hlinkClick>
              </a:rPr>
              <a:t>Freepik</a:t>
            </a:r>
            <a:r>
              <a:rPr b="0" lang="en-US" sz="1000" u="none" strike="noStrike">
                <a:solidFill>
                  <a:schemeClr val="dk1"/>
                </a:solidFill>
                <a:latin typeface="Karla"/>
                <a:ea typeface="Karla"/>
                <a:cs typeface="Karla"/>
                <a:sym typeface="Karla"/>
              </a:rPr>
              <a:t> </a:t>
            </a:r>
            <a:endParaRPr b="0" sz="10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64" name="Shape 64"/>
        <p:cNvGrpSpPr/>
        <p:nvPr/>
      </p:nvGrpSpPr>
      <p:grpSpPr>
        <a:xfrm>
          <a:off x="0" y="0"/>
          <a:ext cx="0" cy="0"/>
          <a:chOff x="0" y="0"/>
          <a:chExt cx="0" cy="0"/>
        </a:xfrm>
      </p:grpSpPr>
      <p:pic>
        <p:nvPicPr>
          <p:cNvPr id="65" name="Google Shape;65;p31"/>
          <p:cNvPicPr preferRelativeResize="0"/>
          <p:nvPr/>
        </p:nvPicPr>
        <p:blipFill rotWithShape="1">
          <a:blip r:embed="rId2">
            <a:alphaModFix/>
          </a:blip>
          <a:srcRect b="827" l="827" r="827" t="827"/>
          <a:stretch/>
        </p:blipFill>
        <p:spPr>
          <a:xfrm>
            <a:off x="0" y="0"/>
            <a:ext cx="9143640" cy="5142960"/>
          </a:xfrm>
          <a:prstGeom prst="rect">
            <a:avLst/>
          </a:prstGeom>
          <a:noFill/>
          <a:ln>
            <a:noFill/>
          </a:ln>
        </p:spPr>
      </p:pic>
      <p:sp>
        <p:nvSpPr>
          <p:cNvPr id="66" name="Google Shape;66;p31"/>
          <p:cNvSpPr txBox="1"/>
          <p:nvPr>
            <p:ph type="title"/>
          </p:nvPr>
        </p:nvSpPr>
        <p:spPr>
          <a:xfrm>
            <a:off x="873720" y="3070440"/>
            <a:ext cx="3350520" cy="18792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31"/>
          <p:cNvSpPr txBox="1"/>
          <p:nvPr>
            <p:ph idx="2" type="title"/>
          </p:nvPr>
        </p:nvSpPr>
        <p:spPr>
          <a:xfrm>
            <a:off x="7007040" y="1610280"/>
            <a:ext cx="1267920" cy="126936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3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
  <p:cSld name="BLANK_1_1_1_1_1_1_1">
    <p:bg>
      <p:bgPr>
        <a:solidFill>
          <a:schemeClr val="lt1"/>
        </a:solidFill>
      </p:bgPr>
    </p:bg>
    <p:spTree>
      <p:nvGrpSpPr>
        <p:cNvPr id="69" name="Shape 69"/>
        <p:cNvGrpSpPr/>
        <p:nvPr/>
      </p:nvGrpSpPr>
      <p:grpSpPr>
        <a:xfrm>
          <a:off x="0" y="0"/>
          <a:ext cx="0" cy="0"/>
          <a:chOff x="0" y="0"/>
          <a:chExt cx="0" cy="0"/>
        </a:xfrm>
      </p:grpSpPr>
      <p:pic>
        <p:nvPicPr>
          <p:cNvPr id="70" name="Google Shape;70;p32"/>
          <p:cNvPicPr preferRelativeResize="0"/>
          <p:nvPr/>
        </p:nvPicPr>
        <p:blipFill rotWithShape="1">
          <a:blip r:embed="rId2">
            <a:alphaModFix/>
          </a:blip>
          <a:srcRect b="922" l="1755" r="98" t="932"/>
          <a:stretch/>
        </p:blipFill>
        <p:spPr>
          <a:xfrm flipH="1">
            <a:off x="360" y="0"/>
            <a:ext cx="9143640" cy="514332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_1">
  <p:cSld name="BLANK_1_1_1_1_1_1_1_1">
    <p:bg>
      <p:bgPr>
        <a:solidFill>
          <a:schemeClr val="lt1"/>
        </a:solidFill>
      </p:bgPr>
    </p:bg>
    <p:spTree>
      <p:nvGrpSpPr>
        <p:cNvPr id="71" name="Shape 71"/>
        <p:cNvGrpSpPr/>
        <p:nvPr/>
      </p:nvGrpSpPr>
      <p:grpSpPr>
        <a:xfrm>
          <a:off x="0" y="0"/>
          <a:ext cx="0" cy="0"/>
          <a:chOff x="0" y="0"/>
          <a:chExt cx="0" cy="0"/>
        </a:xfrm>
      </p:grpSpPr>
      <p:pic>
        <p:nvPicPr>
          <p:cNvPr id="72" name="Google Shape;72;p33"/>
          <p:cNvPicPr preferRelativeResize="0"/>
          <p:nvPr/>
        </p:nvPicPr>
        <p:blipFill rotWithShape="1">
          <a:blip r:embed="rId2">
            <a:alphaModFix/>
          </a:blip>
          <a:srcRect b="827" l="827" r="827" t="827"/>
          <a:stretch/>
        </p:blipFill>
        <p:spPr>
          <a:xfrm flipH="1">
            <a:off x="360" y="0"/>
            <a:ext cx="9143640" cy="514332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_1_1">
  <p:cSld name="BLANK_1_1_1_1_1_1_1_1_1">
    <p:bg>
      <p:bgPr>
        <a:solidFill>
          <a:schemeClr val="lt1"/>
        </a:solidFill>
      </p:bgPr>
    </p:bg>
    <p:spTree>
      <p:nvGrpSpPr>
        <p:cNvPr id="73" name="Shape 73"/>
        <p:cNvGrpSpPr/>
        <p:nvPr/>
      </p:nvGrpSpPr>
      <p:grpSpPr>
        <a:xfrm>
          <a:off x="0" y="0"/>
          <a:ext cx="0" cy="0"/>
          <a:chOff x="0" y="0"/>
          <a:chExt cx="0" cy="0"/>
        </a:xfrm>
      </p:grpSpPr>
      <p:pic>
        <p:nvPicPr>
          <p:cNvPr id="74" name="Google Shape;74;p34"/>
          <p:cNvPicPr preferRelativeResize="0"/>
          <p:nvPr/>
        </p:nvPicPr>
        <p:blipFill rotWithShape="1">
          <a:blip r:embed="rId2">
            <a:alphaModFix/>
          </a:blip>
          <a:srcRect b="417" l="0" r="832" t="417"/>
          <a:stretch/>
        </p:blipFill>
        <p:spPr>
          <a:xfrm>
            <a:off x="0" y="0"/>
            <a:ext cx="9143640" cy="514332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75" name="Shape 75"/>
        <p:cNvGrpSpPr/>
        <p:nvPr/>
      </p:nvGrpSpPr>
      <p:grpSpPr>
        <a:xfrm>
          <a:off x="0" y="0"/>
          <a:ext cx="0" cy="0"/>
          <a:chOff x="0" y="0"/>
          <a:chExt cx="0" cy="0"/>
        </a:xfrm>
      </p:grpSpPr>
      <p:pic>
        <p:nvPicPr>
          <p:cNvPr id="76" name="Google Shape;76;p35"/>
          <p:cNvPicPr preferRelativeResize="0"/>
          <p:nvPr/>
        </p:nvPicPr>
        <p:blipFill rotWithShape="1">
          <a:blip r:embed="rId2">
            <a:alphaModFix/>
          </a:blip>
          <a:srcRect b="417" l="0" r="832" t="417"/>
          <a:stretch/>
        </p:blipFill>
        <p:spPr>
          <a:xfrm>
            <a:off x="0" y="0"/>
            <a:ext cx="9143640" cy="5143320"/>
          </a:xfrm>
          <a:prstGeom prst="rect">
            <a:avLst/>
          </a:prstGeom>
          <a:noFill/>
          <a:ln>
            <a:noFill/>
          </a:ln>
        </p:spPr>
      </p:pic>
      <p:sp>
        <p:nvSpPr>
          <p:cNvPr id="77" name="Google Shape;77;p35"/>
          <p:cNvSpPr txBox="1"/>
          <p:nvPr>
            <p:ph idx="1" type="body"/>
          </p:nvPr>
        </p:nvSpPr>
        <p:spPr>
          <a:xfrm>
            <a:off x="5576400" y="3472920"/>
            <a:ext cx="2530080" cy="44352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8" name="Google Shape;78;p35"/>
          <p:cNvSpPr txBox="1"/>
          <p:nvPr>
            <p:ph type="title"/>
          </p:nvPr>
        </p:nvSpPr>
        <p:spPr>
          <a:xfrm>
            <a:off x="228600" y="228600"/>
            <a:ext cx="8686440" cy="8222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lt1"/>
        </a:solidFill>
      </p:bgPr>
    </p:bg>
    <p:spTree>
      <p:nvGrpSpPr>
        <p:cNvPr id="79" name="Shape 79"/>
        <p:cNvGrpSpPr/>
        <p:nvPr/>
      </p:nvGrpSpPr>
      <p:grpSpPr>
        <a:xfrm>
          <a:off x="0" y="0"/>
          <a:ext cx="0" cy="0"/>
          <a:chOff x="0" y="0"/>
          <a:chExt cx="0" cy="0"/>
        </a:xfrm>
      </p:grpSpPr>
      <p:pic>
        <p:nvPicPr>
          <p:cNvPr id="80" name="Google Shape;80;p36"/>
          <p:cNvPicPr preferRelativeResize="0"/>
          <p:nvPr/>
        </p:nvPicPr>
        <p:blipFill rotWithShape="1">
          <a:blip r:embed="rId2">
            <a:alphaModFix/>
          </a:blip>
          <a:srcRect b="932" l="1755" r="98" t="932"/>
          <a:stretch/>
        </p:blipFill>
        <p:spPr>
          <a:xfrm flipH="1">
            <a:off x="360" y="0"/>
            <a:ext cx="9143640" cy="5142960"/>
          </a:xfrm>
          <a:prstGeom prst="rect">
            <a:avLst/>
          </a:prstGeom>
          <a:noFill/>
          <a:ln>
            <a:noFill/>
          </a:ln>
        </p:spPr>
      </p:pic>
      <p:sp>
        <p:nvSpPr>
          <p:cNvPr id="81" name="Google Shape;81;p36"/>
          <p:cNvSpPr txBox="1"/>
          <p:nvPr>
            <p:ph type="title"/>
          </p:nvPr>
        </p:nvSpPr>
        <p:spPr>
          <a:xfrm>
            <a:off x="231120" y="228600"/>
            <a:ext cx="8686440" cy="8222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82" name="Shape 82"/>
        <p:cNvGrpSpPr/>
        <p:nvPr/>
      </p:nvGrpSpPr>
      <p:grpSpPr>
        <a:xfrm>
          <a:off x="0" y="0"/>
          <a:ext cx="0" cy="0"/>
          <a:chOff x="0" y="0"/>
          <a:chExt cx="0" cy="0"/>
        </a:xfrm>
      </p:grpSpPr>
      <p:pic>
        <p:nvPicPr>
          <p:cNvPr id="83" name="Google Shape;83;p37"/>
          <p:cNvPicPr preferRelativeResize="0"/>
          <p:nvPr/>
        </p:nvPicPr>
        <p:blipFill rotWithShape="1">
          <a:blip r:embed="rId2">
            <a:alphaModFix/>
          </a:blip>
          <a:srcRect b="417" l="0" r="0" t="417"/>
          <a:stretch/>
        </p:blipFill>
        <p:spPr>
          <a:xfrm>
            <a:off x="0" y="0"/>
            <a:ext cx="9220320" cy="5142960"/>
          </a:xfrm>
          <a:prstGeom prst="rect">
            <a:avLst/>
          </a:prstGeom>
          <a:noFill/>
          <a:ln>
            <a:noFill/>
          </a:ln>
        </p:spPr>
      </p:pic>
      <p:sp>
        <p:nvSpPr>
          <p:cNvPr id="84" name="Google Shape;84;p37"/>
          <p:cNvSpPr txBox="1"/>
          <p:nvPr>
            <p:ph type="title"/>
          </p:nvPr>
        </p:nvSpPr>
        <p:spPr>
          <a:xfrm>
            <a:off x="228600" y="228600"/>
            <a:ext cx="8686440" cy="8222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lt1"/>
        </a:solidFill>
      </p:bgPr>
    </p:bg>
    <p:spTree>
      <p:nvGrpSpPr>
        <p:cNvPr id="85" name="Shape 85"/>
        <p:cNvGrpSpPr/>
        <p:nvPr/>
      </p:nvGrpSpPr>
      <p:grpSpPr>
        <a:xfrm>
          <a:off x="0" y="0"/>
          <a:ext cx="0" cy="0"/>
          <a:chOff x="0" y="0"/>
          <a:chExt cx="0" cy="0"/>
        </a:xfrm>
      </p:grpSpPr>
      <p:pic>
        <p:nvPicPr>
          <p:cNvPr id="86" name="Google Shape;86;p38"/>
          <p:cNvPicPr preferRelativeResize="0"/>
          <p:nvPr/>
        </p:nvPicPr>
        <p:blipFill rotWithShape="1">
          <a:blip r:embed="rId2">
            <a:alphaModFix/>
          </a:blip>
          <a:srcRect b="827" l="827" r="827" t="827"/>
          <a:stretch/>
        </p:blipFill>
        <p:spPr>
          <a:xfrm>
            <a:off x="0" y="0"/>
            <a:ext cx="9143640" cy="5142960"/>
          </a:xfrm>
          <a:prstGeom prst="rect">
            <a:avLst/>
          </a:prstGeom>
          <a:noFill/>
          <a:ln>
            <a:noFill/>
          </a:ln>
        </p:spPr>
      </p:pic>
      <p:sp>
        <p:nvSpPr>
          <p:cNvPr id="87" name="Google Shape;87;p38"/>
          <p:cNvSpPr txBox="1"/>
          <p:nvPr>
            <p:ph type="title"/>
          </p:nvPr>
        </p:nvSpPr>
        <p:spPr>
          <a:xfrm>
            <a:off x="228600" y="228600"/>
            <a:ext cx="3998160" cy="1445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38"/>
          <p:cNvSpPr txBox="1"/>
          <p:nvPr>
            <p:ph idx="1" type="body"/>
          </p:nvPr>
        </p:nvSpPr>
        <p:spPr>
          <a:xfrm>
            <a:off x="1609560" y="2066040"/>
            <a:ext cx="3823920" cy="253224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9" name="Google Shape;89;p38"/>
          <p:cNvSpPr txBox="1"/>
          <p:nvPr>
            <p:ph idx="2" type="body"/>
          </p:nvPr>
        </p:nvSpPr>
        <p:spPr>
          <a:xfrm>
            <a:off x="5715720" y="0"/>
            <a:ext cx="342792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90" name="Shape 90"/>
        <p:cNvGrpSpPr/>
        <p:nvPr/>
      </p:nvGrpSpPr>
      <p:grpSpPr>
        <a:xfrm>
          <a:off x="0" y="0"/>
          <a:ext cx="0" cy="0"/>
          <a:chOff x="0" y="0"/>
          <a:chExt cx="0" cy="0"/>
        </a:xfrm>
      </p:grpSpPr>
      <p:pic>
        <p:nvPicPr>
          <p:cNvPr id="91" name="Google Shape;91;p39"/>
          <p:cNvPicPr preferRelativeResize="0"/>
          <p:nvPr/>
        </p:nvPicPr>
        <p:blipFill rotWithShape="1">
          <a:blip r:embed="rId2">
            <a:alphaModFix/>
          </a:blip>
          <a:srcRect b="827" l="827" r="827" t="827"/>
          <a:stretch/>
        </p:blipFill>
        <p:spPr>
          <a:xfrm>
            <a:off x="0" y="0"/>
            <a:ext cx="9143640" cy="5142960"/>
          </a:xfrm>
          <a:prstGeom prst="rect">
            <a:avLst/>
          </a:prstGeom>
          <a:noFill/>
          <a:ln>
            <a:noFill/>
          </a:ln>
        </p:spPr>
      </p:pic>
      <p:sp>
        <p:nvSpPr>
          <p:cNvPr id="92" name="Google Shape;92;p39"/>
          <p:cNvSpPr txBox="1"/>
          <p:nvPr>
            <p:ph type="title"/>
          </p:nvPr>
        </p:nvSpPr>
        <p:spPr>
          <a:xfrm>
            <a:off x="1388160" y="1307160"/>
            <a:ext cx="6367320" cy="252900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lt1"/>
        </a:solidFill>
      </p:bgPr>
    </p:bg>
    <p:spTree>
      <p:nvGrpSpPr>
        <p:cNvPr id="93" name="Shape 93"/>
        <p:cNvGrpSpPr/>
        <p:nvPr/>
      </p:nvGrpSpPr>
      <p:grpSpPr>
        <a:xfrm>
          <a:off x="0" y="0"/>
          <a:ext cx="0" cy="0"/>
          <a:chOff x="0" y="0"/>
          <a:chExt cx="0" cy="0"/>
        </a:xfrm>
      </p:grpSpPr>
      <p:pic>
        <p:nvPicPr>
          <p:cNvPr id="94" name="Google Shape;94;p40"/>
          <p:cNvPicPr preferRelativeResize="0"/>
          <p:nvPr/>
        </p:nvPicPr>
        <p:blipFill rotWithShape="1">
          <a:blip r:embed="rId2">
            <a:alphaModFix/>
          </a:blip>
          <a:srcRect b="417" l="0" r="832" t="417"/>
          <a:stretch/>
        </p:blipFill>
        <p:spPr>
          <a:xfrm>
            <a:off x="0" y="0"/>
            <a:ext cx="9143640" cy="5143320"/>
          </a:xfrm>
          <a:prstGeom prst="rect">
            <a:avLst/>
          </a:prstGeom>
          <a:noFill/>
          <a:ln>
            <a:noFill/>
          </a:ln>
        </p:spPr>
      </p:pic>
      <p:sp>
        <p:nvSpPr>
          <p:cNvPr id="95" name="Google Shape;95;p40"/>
          <p:cNvSpPr txBox="1"/>
          <p:nvPr>
            <p:ph type="title"/>
          </p:nvPr>
        </p:nvSpPr>
        <p:spPr>
          <a:xfrm>
            <a:off x="228600" y="462240"/>
            <a:ext cx="8686440" cy="5886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chemeClr val="lt1"/>
        </a:solidFill>
      </p:bgPr>
    </p:bg>
    <p:spTree>
      <p:nvGrpSpPr>
        <p:cNvPr id="96" name="Shape 96"/>
        <p:cNvGrpSpPr/>
        <p:nvPr/>
      </p:nvGrpSpPr>
      <p:grpSpPr>
        <a:xfrm>
          <a:off x="0" y="0"/>
          <a:ext cx="0" cy="0"/>
          <a:chOff x="0" y="0"/>
          <a:chExt cx="0" cy="0"/>
        </a:xfrm>
      </p:grpSpPr>
      <p:sp>
        <p:nvSpPr>
          <p:cNvPr id="97" name="Google Shape;97;p41"/>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stStyle>
          <a:p/>
        </p:txBody>
      </p:sp>
      <p:sp>
        <p:nvSpPr>
          <p:cNvPr id="98" name="Google Shape;98;p41"/>
          <p:cNvSpPr txBox="1"/>
          <p:nvPr>
            <p:ph type="title"/>
          </p:nvPr>
        </p:nvSpPr>
        <p:spPr>
          <a:xfrm>
            <a:off x="228600" y="4549680"/>
            <a:ext cx="3658320" cy="36504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i.org/10.1038/s41597-020-0355-4" TargetMode="External"/><Relationship Id="rId4" Type="http://schemas.openxmlformats.org/officeDocument/2006/relationships/hyperlink" Target="https://doi.org/10.1038/s41598-020-80474-z" TargetMode="External"/><Relationship Id="rId5" Type="http://schemas.openxmlformats.org/officeDocument/2006/relationships/hyperlink" Target="https://doi.org/10.1186/s12931-024-02753-x" TargetMode="External"/><Relationship Id="rId6" Type="http://schemas.openxmlformats.org/officeDocument/2006/relationships/hyperlink" Target="https://arxiv.org/abs/2207.08815?utm_source=chatgpt.com" TargetMode="External"/><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hyperlink" Target="https://arxiv.org/abs/2106.11959?utm_source=chatgpt.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title"/>
          </p:nvPr>
        </p:nvSpPr>
        <p:spPr>
          <a:xfrm>
            <a:off x="2719935" y="-792077"/>
            <a:ext cx="6309765" cy="1853659"/>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Clr>
                <a:schemeClr val="dk1"/>
              </a:buClr>
              <a:buSzPts val="1800"/>
              <a:buFont typeface="Arial"/>
              <a:buNone/>
            </a:pPr>
            <a:r>
              <a:rPr lang="en-US" sz="1800"/>
              <a:t>School of Computer Science and Engineering </a:t>
            </a:r>
            <a:br>
              <a:rPr lang="en-US" sz="1800"/>
            </a:br>
            <a:r>
              <a:rPr lang="en-US" sz="1800"/>
              <a:t>Department of Computer Science and Engineering</a:t>
            </a:r>
            <a:br>
              <a:rPr lang="en-US" sz="1800"/>
            </a:br>
            <a:endParaRPr b="0" sz="1800" u="none" strike="noStrike">
              <a:solidFill>
                <a:schemeClr val="dk1"/>
              </a:solidFill>
              <a:latin typeface="Arial"/>
              <a:ea typeface="Arial"/>
              <a:cs typeface="Arial"/>
              <a:sym typeface="Arial"/>
            </a:endParaRPr>
          </a:p>
        </p:txBody>
      </p:sp>
      <p:sp>
        <p:nvSpPr>
          <p:cNvPr id="104" name="Google Shape;104;p1"/>
          <p:cNvSpPr txBox="1"/>
          <p:nvPr>
            <p:ph idx="1" type="subTitle"/>
          </p:nvPr>
        </p:nvSpPr>
        <p:spPr>
          <a:xfrm>
            <a:off x="228600" y="1610857"/>
            <a:ext cx="8915400" cy="2111805"/>
          </a:xfrm>
          <a:prstGeom prst="rect">
            <a:avLst/>
          </a:prstGeom>
          <a:noFill/>
          <a:ln>
            <a:noFill/>
          </a:ln>
        </p:spPr>
        <p:txBody>
          <a:bodyPr anchorCtr="0" anchor="t" bIns="91425" lIns="91425" spcFirstLastPara="1" rIns="91425" wrap="square" tIns="91425">
            <a:normAutofit/>
          </a:bodyPr>
          <a:lstStyle/>
          <a:p>
            <a:pPr indent="0" lvl="0" marL="457200" marR="0" rtl="0" algn="ctr">
              <a:lnSpc>
                <a:spcPct val="120000"/>
              </a:lnSpc>
              <a:spcBef>
                <a:spcPts val="0"/>
              </a:spcBef>
              <a:spcAft>
                <a:spcPts val="0"/>
              </a:spcAft>
              <a:buNone/>
            </a:pPr>
            <a:r>
              <a:rPr b="0" i="0" lang="en-US" sz="2400" u="none" cap="none" strike="noStrike">
                <a:solidFill>
                  <a:schemeClr val="dk1"/>
                </a:solidFill>
                <a:latin typeface="Arial"/>
                <a:ea typeface="Arial"/>
                <a:cs typeface="Arial"/>
                <a:sym typeface="Arial"/>
              </a:rPr>
              <a:t>A Comparative Study of Machine Learning and Deep Learning Models on the Pediatric Intensive Care (PIC) Database</a:t>
            </a:r>
            <a:endParaRPr b="0" i="0" sz="2400" u="none" cap="none" strike="noStrike">
              <a:solidFill>
                <a:srgbClr val="000000"/>
              </a:solidFill>
              <a:latin typeface="Noto Sans Symbols"/>
              <a:ea typeface="Noto Sans Symbols"/>
              <a:cs typeface="Noto Sans Symbols"/>
              <a:sym typeface="Noto Sans Symbols"/>
            </a:endParaRPr>
          </a:p>
        </p:txBody>
      </p:sp>
      <p:cxnSp>
        <p:nvCxnSpPr>
          <p:cNvPr id="105" name="Google Shape;105;p1"/>
          <p:cNvCxnSpPr/>
          <p:nvPr/>
        </p:nvCxnSpPr>
        <p:spPr>
          <a:xfrm>
            <a:off x="114300" y="3021766"/>
            <a:ext cx="8915400" cy="0"/>
          </a:xfrm>
          <a:prstGeom prst="straightConnector1">
            <a:avLst/>
          </a:prstGeom>
          <a:noFill/>
          <a:ln cap="flat" cmpd="sng" w="9525">
            <a:solidFill>
              <a:srgbClr val="083C77"/>
            </a:solidFill>
            <a:prstDash val="solid"/>
            <a:round/>
            <a:headEnd len="sm" w="sm" type="none"/>
            <a:tailEnd len="sm" w="sm" type="none"/>
          </a:ln>
        </p:spPr>
      </p:cxnSp>
      <p:sp>
        <p:nvSpPr>
          <p:cNvPr id="106" name="Google Shape;106;p1"/>
          <p:cNvSpPr txBox="1"/>
          <p:nvPr/>
        </p:nvSpPr>
        <p:spPr>
          <a:xfrm>
            <a:off x="300250" y="3571042"/>
            <a:ext cx="2305385"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Arial"/>
                <a:ea typeface="Arial"/>
                <a:cs typeface="Arial"/>
                <a:sym typeface="Arial"/>
              </a:rPr>
              <a:t>Submitted By:</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Divyanshu Patel</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2427030037</a:t>
            </a:r>
            <a:endParaRPr/>
          </a:p>
        </p:txBody>
      </p:sp>
      <p:sp>
        <p:nvSpPr>
          <p:cNvPr id="107" name="Google Shape;107;p1"/>
          <p:cNvSpPr txBox="1"/>
          <p:nvPr/>
        </p:nvSpPr>
        <p:spPr>
          <a:xfrm>
            <a:off x="6538365" y="3571042"/>
            <a:ext cx="23055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Supervised By:</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Dr. Akshay Jadhav</a:t>
            </a:r>
            <a:endParaRPr/>
          </a:p>
        </p:txBody>
      </p:sp>
      <p:pic>
        <p:nvPicPr>
          <p:cNvPr descr="A black and white text&#10;&#10;AI-generated content may be incorrect." id="108" name="Google Shape;108;p1"/>
          <p:cNvPicPr preferRelativeResize="0"/>
          <p:nvPr/>
        </p:nvPicPr>
        <p:blipFill rotWithShape="1">
          <a:blip r:embed="rId3">
            <a:alphaModFix/>
          </a:blip>
          <a:srcRect b="0" l="0" r="0" t="0"/>
          <a:stretch/>
        </p:blipFill>
        <p:spPr>
          <a:xfrm>
            <a:off x="114300" y="121104"/>
            <a:ext cx="2361063" cy="6916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ph type="title"/>
          </p:nvPr>
        </p:nvSpPr>
        <p:spPr>
          <a:xfrm>
            <a:off x="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Arial"/>
              <a:buNone/>
            </a:pPr>
            <a:r>
              <a:rPr b="0" lang="en-US" sz="3500" u="none" strike="noStrike">
                <a:solidFill>
                  <a:schemeClr val="dk1"/>
                </a:solidFill>
                <a:latin typeface="Arial"/>
                <a:ea typeface="Arial"/>
                <a:cs typeface="Arial"/>
                <a:sym typeface="Arial"/>
              </a:rPr>
              <a:t>Outline</a:t>
            </a:r>
            <a:endParaRPr/>
          </a:p>
        </p:txBody>
      </p:sp>
      <p:sp>
        <p:nvSpPr>
          <p:cNvPr id="114" name="Google Shape;114;p2"/>
          <p:cNvSpPr txBox="1"/>
          <p:nvPr>
            <p:ph idx="1" type="subTitle"/>
          </p:nvPr>
        </p:nvSpPr>
        <p:spPr>
          <a:xfrm>
            <a:off x="460612" y="1962540"/>
            <a:ext cx="6372000" cy="3180960"/>
          </a:xfrm>
          <a:prstGeom prst="rect">
            <a:avLst/>
          </a:prstGeom>
          <a:noFill/>
          <a:ln>
            <a:noFill/>
          </a:ln>
        </p:spPr>
        <p:txBody>
          <a:bodyPr anchorCtr="0" anchor="t" bIns="91425" lIns="91425" spcFirstLastPara="1" rIns="91425" wrap="square" tIns="91425">
            <a:normAutofit/>
          </a:bodyPr>
          <a:lstStyle/>
          <a:p>
            <a:pPr indent="-342900" lvl="0" marL="3429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Introduction</a:t>
            </a:r>
            <a:endParaRPr/>
          </a:p>
          <a:p>
            <a:pPr indent="-342900" lvl="0" marL="342900" marR="0" rtl="0" algn="l">
              <a:lnSpc>
                <a:spcPct val="90000"/>
              </a:lnSpc>
              <a:spcBef>
                <a:spcPts val="10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Literature Review</a:t>
            </a:r>
            <a:endParaRPr/>
          </a:p>
          <a:p>
            <a:pPr indent="-342900" lvl="0" marL="342900" marR="0" rtl="0" algn="l">
              <a:lnSpc>
                <a:spcPct val="90000"/>
              </a:lnSpc>
              <a:spcBef>
                <a:spcPts val="10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Problem Statement</a:t>
            </a:r>
            <a:endParaRPr/>
          </a:p>
          <a:p>
            <a:pPr indent="-342900" lvl="0" marL="342900" marR="0" rtl="0" algn="l">
              <a:lnSpc>
                <a:spcPct val="90000"/>
              </a:lnSpc>
              <a:spcBef>
                <a:spcPts val="10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Proposed Solution</a:t>
            </a:r>
            <a:endParaRPr/>
          </a:p>
          <a:p>
            <a:pPr indent="-342900" lvl="0" marL="342900" marR="0" rtl="0" algn="l">
              <a:lnSpc>
                <a:spcPct val="90000"/>
              </a:lnSpc>
              <a:spcBef>
                <a:spcPts val="10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Objectives</a:t>
            </a:r>
            <a:endParaRPr/>
          </a:p>
          <a:p>
            <a:pPr indent="0" lvl="0" marL="228600" marR="0" rtl="0" algn="l">
              <a:lnSpc>
                <a:spcPct val="120000"/>
              </a:lnSpc>
              <a:spcBef>
                <a:spcPts val="1000"/>
              </a:spcBef>
              <a:spcAft>
                <a:spcPts val="0"/>
              </a:spcAft>
              <a:buClr>
                <a:schemeClr val="dk1"/>
              </a:buClr>
              <a:buSzPts val="1200"/>
              <a:buFont typeface="Arial"/>
              <a:buNone/>
            </a:pPr>
            <a:r>
              <a:t/>
            </a:r>
            <a:endParaRPr b="0" i="0" sz="1200" u="none" cap="none" strike="noStrike">
              <a:solidFill>
                <a:srgbClr val="000000"/>
              </a:solidFill>
              <a:latin typeface="Noto Sans Symbols"/>
              <a:ea typeface="Noto Sans Symbols"/>
              <a:cs typeface="Noto Sans Symbols"/>
              <a:sym typeface="Noto Sans Symbols"/>
            </a:endParaRPr>
          </a:p>
        </p:txBody>
      </p:sp>
      <p:cxnSp>
        <p:nvCxnSpPr>
          <p:cNvPr id="115" name="Google Shape;115;p2"/>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16" name="Google Shape;116;p2"/>
          <p:cNvPicPr preferRelativeResize="0"/>
          <p:nvPr/>
        </p:nvPicPr>
        <p:blipFill rotWithShape="1">
          <a:blip r:embed="rId3">
            <a:alphaModFix/>
          </a:blip>
          <a:srcRect b="0" l="0" r="0" t="0"/>
          <a:stretch/>
        </p:blipFill>
        <p:spPr>
          <a:xfrm>
            <a:off x="136478" y="64311"/>
            <a:ext cx="1678675" cy="4917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Figtree"/>
              <a:buNone/>
            </a:pPr>
            <a:r>
              <a:rPr b="0" lang="en-US" sz="3500" u="none" strike="noStrike">
                <a:solidFill>
                  <a:schemeClr val="dk1"/>
                </a:solidFill>
                <a:latin typeface="Figtree"/>
                <a:ea typeface="Figtree"/>
                <a:cs typeface="Figtree"/>
                <a:sym typeface="Figtree"/>
              </a:rPr>
              <a:t>Introduction</a:t>
            </a:r>
            <a:endParaRPr b="0" sz="3500" u="none" strike="noStrike">
              <a:solidFill>
                <a:schemeClr val="dk1"/>
              </a:solidFill>
              <a:latin typeface="Arial"/>
              <a:ea typeface="Arial"/>
              <a:cs typeface="Arial"/>
              <a:sym typeface="Arial"/>
            </a:endParaRPr>
          </a:p>
        </p:txBody>
      </p:sp>
      <p:sp>
        <p:nvSpPr>
          <p:cNvPr id="122" name="Google Shape;122;p3"/>
          <p:cNvSpPr txBox="1"/>
          <p:nvPr>
            <p:ph idx="1" type="subTitle"/>
          </p:nvPr>
        </p:nvSpPr>
        <p:spPr>
          <a:xfrm>
            <a:off x="228600" y="1733400"/>
            <a:ext cx="8686440" cy="3180960"/>
          </a:xfrm>
          <a:prstGeom prst="rect">
            <a:avLst/>
          </a:prstGeom>
          <a:noFill/>
          <a:ln>
            <a:noFill/>
          </a:ln>
        </p:spPr>
        <p:txBody>
          <a:bodyPr anchorCtr="0" anchor="t" bIns="91425" lIns="91425" spcFirstLastPara="1" rIns="91425" wrap="square" tIns="91425">
            <a:normAutofit lnSpcReduction="20000"/>
          </a:bodyPr>
          <a:lstStyle/>
          <a:p>
            <a:pPr indent="-228600" lvl="0" marL="228600" marR="0" rtl="0" algn="l">
              <a:lnSpc>
                <a:spcPct val="9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Background:</a:t>
            </a:r>
            <a:endParaRPr/>
          </a:p>
          <a:p>
            <a:pPr indent="-114300" lvl="0" marL="22860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171450" lvl="0" marL="171450" marR="0" rtl="0" algn="l">
              <a:lnSpc>
                <a:spcPct val="9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Pediatric Intensive Care Units (PICU) generate large volumes of clinical data.</a:t>
            </a:r>
            <a:endParaRPr/>
          </a:p>
          <a:p>
            <a:pPr indent="-114300" lvl="0" marL="22860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171450" lvl="0" marL="171450" marR="0" rtl="0" algn="l">
              <a:lnSpc>
                <a:spcPct val="9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Accurate prediction of outcomes (ICU mortality</a:t>
            </a:r>
            <a:r>
              <a:rPr lang="en-US" sz="1800">
                <a:solidFill>
                  <a:schemeClr val="dk1"/>
                </a:solidFill>
              </a:rPr>
              <a:t>, In-hospital mortality,</a:t>
            </a:r>
            <a:r>
              <a:rPr lang="en-US" sz="1800">
                <a:solidFill>
                  <a:schemeClr val="dk1"/>
                </a:solidFill>
                <a:latin typeface="Arial"/>
                <a:ea typeface="Arial"/>
                <a:cs typeface="Arial"/>
                <a:sym typeface="Arial"/>
              </a:rPr>
              <a:t> length of stay</a:t>
            </a:r>
            <a:r>
              <a:rPr lang="en-US" sz="1800">
                <a:solidFill>
                  <a:schemeClr val="dk1"/>
                </a:solidFill>
              </a:rPr>
              <a:t>, etc</a:t>
            </a:r>
            <a:r>
              <a:rPr lang="en-US" sz="1800">
                <a:solidFill>
                  <a:schemeClr val="dk1"/>
                </a:solidFill>
                <a:latin typeface="Arial"/>
                <a:ea typeface="Arial"/>
                <a:cs typeface="Arial"/>
                <a:sym typeface="Arial"/>
              </a:rPr>
              <a:t>) is crucial for improving patient care and early intervent</a:t>
            </a:r>
            <a:r>
              <a:rPr lang="en-US" sz="1800">
                <a:solidFill>
                  <a:schemeClr val="dk1"/>
                </a:solidFill>
              </a:rPr>
              <a:t>ion in high risk cases</a:t>
            </a:r>
            <a:r>
              <a:rPr lang="en-US" sz="1800">
                <a:solidFill>
                  <a:schemeClr val="dk1"/>
                </a:solidFill>
                <a:latin typeface="Arial"/>
                <a:ea typeface="Arial"/>
                <a:cs typeface="Arial"/>
                <a:sym typeface="Arial"/>
              </a:rPr>
              <a:t>.</a:t>
            </a:r>
            <a:endParaRPr/>
          </a:p>
          <a:p>
            <a:pPr indent="-114300" lvl="0" marL="22860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171450" lvl="0" marL="171450" marR="0" rtl="0" algn="l">
              <a:lnSpc>
                <a:spcPct val="9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Traditional risk scores are limited; machine learning (ML) and deep learning (DL) can leverage complex patterns in</a:t>
            </a:r>
            <a:r>
              <a:rPr lang="en-US" sz="1800">
                <a:solidFill>
                  <a:schemeClr val="dk1"/>
                </a:solidFill>
              </a:rPr>
              <a:t> tabular</a:t>
            </a:r>
            <a:r>
              <a:rPr lang="en-US" sz="1800">
                <a:solidFill>
                  <a:schemeClr val="dk1"/>
                </a:solidFill>
                <a:latin typeface="Arial"/>
                <a:ea typeface="Arial"/>
                <a:cs typeface="Arial"/>
                <a:sym typeface="Arial"/>
              </a:rPr>
              <a:t> data.</a:t>
            </a:r>
            <a:endParaRPr/>
          </a:p>
          <a:p>
            <a:pPr indent="0" lvl="0" marL="228600" marR="0" rtl="0" algn="l">
              <a:lnSpc>
                <a:spcPct val="120000"/>
              </a:lnSpc>
              <a:spcBef>
                <a:spcPts val="1000"/>
              </a:spcBef>
              <a:spcAft>
                <a:spcPts val="0"/>
              </a:spcAft>
              <a:buClr>
                <a:schemeClr val="dk1"/>
              </a:buClr>
              <a:buSzPts val="1200"/>
              <a:buFont typeface="Arial"/>
              <a:buNone/>
            </a:pPr>
            <a:r>
              <a:t/>
            </a:r>
            <a:endParaRPr b="0" sz="1200" u="none" strike="noStrike">
              <a:solidFill>
                <a:srgbClr val="000000"/>
              </a:solidFill>
              <a:latin typeface="Noto Sans Symbols"/>
              <a:ea typeface="Noto Sans Symbols"/>
              <a:cs typeface="Noto Sans Symbols"/>
              <a:sym typeface="Noto Sans Symbols"/>
            </a:endParaRPr>
          </a:p>
        </p:txBody>
      </p:sp>
      <p:cxnSp>
        <p:nvCxnSpPr>
          <p:cNvPr id="123" name="Google Shape;123;p3"/>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24" name="Google Shape;124;p3"/>
          <p:cNvPicPr preferRelativeResize="0"/>
          <p:nvPr/>
        </p:nvPicPr>
        <p:blipFill rotWithShape="1">
          <a:blip r:embed="rId3">
            <a:alphaModFix/>
          </a:blip>
          <a:srcRect b="0" l="0" r="0" t="0"/>
          <a:stretch/>
        </p:blipFill>
        <p:spPr>
          <a:xfrm>
            <a:off x="109183" y="23368"/>
            <a:ext cx="1678675" cy="4917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Figtree"/>
              <a:buNone/>
            </a:pPr>
            <a:r>
              <a:rPr b="0" lang="en-US" sz="3500" u="none" strike="noStrike">
                <a:solidFill>
                  <a:schemeClr val="dk1"/>
                </a:solidFill>
                <a:latin typeface="Figtree"/>
                <a:ea typeface="Figtree"/>
                <a:cs typeface="Figtree"/>
                <a:sym typeface="Figtree"/>
              </a:rPr>
              <a:t>Introduction</a:t>
            </a:r>
            <a:endParaRPr b="0" sz="3500" u="none" strike="noStrike">
              <a:solidFill>
                <a:schemeClr val="dk1"/>
              </a:solidFill>
              <a:latin typeface="Arial"/>
              <a:ea typeface="Arial"/>
              <a:cs typeface="Arial"/>
              <a:sym typeface="Arial"/>
            </a:endParaRPr>
          </a:p>
        </p:txBody>
      </p:sp>
      <p:sp>
        <p:nvSpPr>
          <p:cNvPr id="130" name="Google Shape;130;p4"/>
          <p:cNvSpPr txBox="1"/>
          <p:nvPr>
            <p:ph idx="1" type="subTitle"/>
          </p:nvPr>
        </p:nvSpPr>
        <p:spPr>
          <a:xfrm>
            <a:off x="228600" y="1733400"/>
            <a:ext cx="8686440" cy="3180960"/>
          </a:xfrm>
          <a:prstGeom prst="rect">
            <a:avLst/>
          </a:prstGeom>
          <a:noFill/>
          <a:ln>
            <a:noFill/>
          </a:ln>
        </p:spPr>
        <p:txBody>
          <a:bodyPr anchorCtr="0" anchor="t" bIns="91425" lIns="91425" spcFirstLastPara="1" rIns="91425" wrap="square" tIns="91425">
            <a:normAutofit lnSpcReduction="20000"/>
          </a:bodyPr>
          <a:lstStyle/>
          <a:p>
            <a:pPr indent="-228600" lvl="0" marL="228600" marR="0" rtl="0" algn="l">
              <a:lnSpc>
                <a:spcPct val="9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Motivation:</a:t>
            </a:r>
            <a:endParaRPr/>
          </a:p>
          <a:p>
            <a:pPr indent="-114300" lvl="0" marL="22860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ts val="1800"/>
              <a:buFont typeface="Arial"/>
              <a:buChar char="•"/>
            </a:pPr>
            <a:r>
              <a:rPr lang="en-US" sz="1800">
                <a:solidFill>
                  <a:schemeClr val="dk1"/>
                </a:solidFill>
              </a:rPr>
              <a:t>Improving and personalizing patient healthcare using ML and DL applications.</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Need for automated, data-driven decision support systems </a:t>
            </a:r>
            <a:r>
              <a:rPr lang="en-US" sz="1800">
                <a:solidFill>
                  <a:schemeClr val="dk1"/>
                </a:solidFill>
              </a:rPr>
              <a:t>which can be used to evaluate the risk levels of the patient and hence help in early intervention</a:t>
            </a:r>
            <a:r>
              <a:rPr lang="en-US" sz="1800">
                <a:solidFill>
                  <a:schemeClr val="dk1"/>
                </a:solidFill>
                <a:latin typeface="Arial"/>
                <a:ea typeface="Arial"/>
                <a:cs typeface="Arial"/>
                <a:sym typeface="Arial"/>
              </a:rPr>
              <a:t>.</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lnSpc>
                <a:spcPct val="9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Opportunity to benchmark ML vs DL approaches to identify optimal predictive strategies.</a:t>
            </a:r>
            <a:endParaRPr/>
          </a:p>
          <a:p>
            <a:pPr indent="0" lvl="0" marL="228600" marR="0" rtl="0" algn="l">
              <a:lnSpc>
                <a:spcPct val="120000"/>
              </a:lnSpc>
              <a:spcBef>
                <a:spcPts val="1000"/>
              </a:spcBef>
              <a:spcAft>
                <a:spcPts val="0"/>
              </a:spcAft>
              <a:buClr>
                <a:schemeClr val="dk1"/>
              </a:buClr>
              <a:buSzPts val="1200"/>
              <a:buFont typeface="Arial"/>
              <a:buNone/>
            </a:pPr>
            <a:r>
              <a:t/>
            </a:r>
            <a:endParaRPr b="0" sz="1200" u="none" strike="noStrike">
              <a:solidFill>
                <a:srgbClr val="000000"/>
              </a:solidFill>
              <a:latin typeface="Noto Sans Symbols"/>
              <a:ea typeface="Noto Sans Symbols"/>
              <a:cs typeface="Noto Sans Symbols"/>
              <a:sym typeface="Noto Sans Symbols"/>
            </a:endParaRPr>
          </a:p>
        </p:txBody>
      </p:sp>
      <p:cxnSp>
        <p:nvCxnSpPr>
          <p:cNvPr id="131" name="Google Shape;131;p4"/>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32" name="Google Shape;132;p4"/>
          <p:cNvPicPr preferRelativeResize="0"/>
          <p:nvPr/>
        </p:nvPicPr>
        <p:blipFill rotWithShape="1">
          <a:blip r:embed="rId3">
            <a:alphaModFix/>
          </a:blip>
          <a:srcRect b="0" l="0" r="0" t="0"/>
          <a:stretch/>
        </p:blipFill>
        <p:spPr>
          <a:xfrm>
            <a:off x="95534" y="37016"/>
            <a:ext cx="1678675" cy="4917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600"/>
              <a:buFont typeface="Arial"/>
              <a:buNone/>
            </a:pPr>
            <a:r>
              <a:rPr lang="en-US" sz="3600"/>
              <a:t>Literature Review</a:t>
            </a:r>
            <a:endParaRPr b="0" sz="3500" u="none" strike="noStrike">
              <a:solidFill>
                <a:schemeClr val="dk1"/>
              </a:solidFill>
              <a:latin typeface="Arial"/>
              <a:ea typeface="Arial"/>
              <a:cs typeface="Arial"/>
              <a:sym typeface="Arial"/>
            </a:endParaRPr>
          </a:p>
        </p:txBody>
      </p:sp>
      <p:sp>
        <p:nvSpPr>
          <p:cNvPr id="138" name="Google Shape;138;p5"/>
          <p:cNvSpPr txBox="1"/>
          <p:nvPr>
            <p:ph idx="1" type="subTitle"/>
          </p:nvPr>
        </p:nvSpPr>
        <p:spPr>
          <a:xfrm>
            <a:off x="228600" y="1733400"/>
            <a:ext cx="8686440" cy="3180960"/>
          </a:xfrm>
          <a:prstGeom prst="rect">
            <a:avLst/>
          </a:prstGeom>
          <a:noFill/>
          <a:ln>
            <a:noFill/>
          </a:ln>
        </p:spPr>
        <p:txBody>
          <a:bodyPr anchorCtr="0" anchor="t" bIns="91425" lIns="91425" spcFirstLastPara="1" rIns="91425" wrap="square" tIns="91425">
            <a:normAutofit lnSpcReduction="10000"/>
          </a:bodyPr>
          <a:lstStyle/>
          <a:p>
            <a:pPr indent="-228600" lvl="0" marL="228600" marR="0" rtl="0" algn="l">
              <a:lnSpc>
                <a:spcPct val="9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Existing Work:</a:t>
            </a:r>
            <a:endParaRPr/>
          </a:p>
          <a:p>
            <a:pPr indent="-228600" lvl="0" marL="228600" marR="0" rtl="0" algn="l">
              <a:lnSpc>
                <a:spcPct val="90000"/>
              </a:lnSpc>
              <a:spcBef>
                <a:spcPts val="1000"/>
              </a:spcBef>
              <a:spcAft>
                <a:spcPts val="0"/>
              </a:spcAft>
              <a:buClr>
                <a:schemeClr val="dk1"/>
              </a:buClr>
              <a:buSzPts val="1200"/>
              <a:buFont typeface="Arial"/>
              <a:buChar char="•"/>
            </a:pPr>
            <a:r>
              <a:rPr lang="en-US" sz="1200">
                <a:solidFill>
                  <a:schemeClr val="dk1"/>
                </a:solidFill>
                <a:latin typeface="Arial"/>
                <a:ea typeface="Arial"/>
                <a:cs typeface="Arial"/>
                <a:sym typeface="Arial"/>
              </a:rPr>
              <a:t>Major patterns across the literature:</a:t>
            </a:r>
            <a:endParaRPr/>
          </a:p>
          <a:p>
            <a:pPr indent="0" lvl="0" marL="76200" marR="0" rtl="0" algn="l">
              <a:lnSpc>
                <a:spcPct val="90000"/>
              </a:lnSpc>
              <a:spcBef>
                <a:spcPts val="100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1200"/>
              <a:buFont typeface="Arial"/>
              <a:buChar char="•"/>
            </a:pPr>
            <a:r>
              <a:rPr lang="en-US" sz="1200">
                <a:solidFill>
                  <a:schemeClr val="dk1"/>
                </a:solidFill>
                <a:latin typeface="Arial"/>
                <a:ea typeface="Arial"/>
                <a:cs typeface="Arial"/>
                <a:sym typeface="Arial"/>
              </a:rPr>
              <a:t>Several pediatric ICU studies (PROMPT, Criticality Index, RF 72-h model) demonstrate </a:t>
            </a:r>
            <a:r>
              <a:rPr b="1" lang="en-US" sz="1200">
                <a:solidFill>
                  <a:schemeClr val="dk1"/>
                </a:solidFill>
                <a:latin typeface="Arial"/>
                <a:ea typeface="Arial"/>
                <a:cs typeface="Arial"/>
                <a:sym typeface="Arial"/>
              </a:rPr>
              <a:t>strong predictive performance using sequence-aware DL</a:t>
            </a:r>
            <a:r>
              <a:rPr lang="en-US" sz="1200">
                <a:solidFill>
                  <a:schemeClr val="dk1"/>
                </a:solidFill>
                <a:latin typeface="Arial"/>
                <a:ea typeface="Arial"/>
                <a:cs typeface="Arial"/>
                <a:sym typeface="Arial"/>
              </a:rPr>
              <a:t> </a:t>
            </a:r>
            <a:r>
              <a:rPr i="1" lang="en-US" sz="1200">
                <a:solidFill>
                  <a:schemeClr val="dk1"/>
                </a:solidFill>
                <a:latin typeface="Arial"/>
                <a:ea typeface="Arial"/>
                <a:cs typeface="Arial"/>
                <a:sym typeface="Arial"/>
              </a:rPr>
              <a:t>or</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well-engineered ML ensembles</a:t>
            </a:r>
            <a:r>
              <a:rPr lang="en-US" sz="1200">
                <a:solidFill>
                  <a:schemeClr val="dk1"/>
                </a:solidFill>
                <a:latin typeface="Arial"/>
                <a:ea typeface="Arial"/>
                <a:cs typeface="Arial"/>
                <a:sym typeface="Arial"/>
              </a:rPr>
              <a:t>, depending on the task and data representation. </a:t>
            </a:r>
            <a:endParaRPr/>
          </a:p>
          <a:p>
            <a:pPr indent="-152400" lvl="0" marL="228600" marR="0" rtl="0" algn="l">
              <a:lnSpc>
                <a:spcPct val="90000"/>
              </a:lnSpc>
              <a:spcBef>
                <a:spcPts val="100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1200"/>
              <a:buFont typeface="Arial"/>
              <a:buChar char="•"/>
            </a:pPr>
            <a:r>
              <a:rPr lang="en-US" sz="1200">
                <a:solidFill>
                  <a:schemeClr val="dk1"/>
                </a:solidFill>
                <a:latin typeface="Arial"/>
                <a:ea typeface="Arial"/>
                <a:cs typeface="Arial"/>
                <a:sym typeface="Arial"/>
              </a:rPr>
              <a:t>Benchmarking research on </a:t>
            </a:r>
            <a:r>
              <a:rPr i="1" lang="en-US" sz="1200">
                <a:solidFill>
                  <a:schemeClr val="dk1"/>
                </a:solidFill>
                <a:latin typeface="Arial"/>
                <a:ea typeface="Arial"/>
                <a:cs typeface="Arial"/>
                <a:sym typeface="Arial"/>
              </a:rPr>
              <a:t>tabular</a:t>
            </a:r>
            <a:r>
              <a:rPr lang="en-US" sz="1200">
                <a:solidFill>
                  <a:schemeClr val="dk1"/>
                </a:solidFill>
                <a:latin typeface="Arial"/>
                <a:ea typeface="Arial"/>
                <a:cs typeface="Arial"/>
                <a:sym typeface="Arial"/>
              </a:rPr>
              <a:t> data shows </a:t>
            </a:r>
            <a:r>
              <a:rPr b="1" lang="en-US" sz="1200">
                <a:solidFill>
                  <a:schemeClr val="dk1"/>
                </a:solidFill>
                <a:latin typeface="Arial"/>
                <a:ea typeface="Arial"/>
                <a:cs typeface="Arial"/>
                <a:sym typeface="Arial"/>
              </a:rPr>
              <a:t>gradient boosting trees (GBDTs) commonly match or beat DL</a:t>
            </a:r>
            <a:r>
              <a:rPr lang="en-US" sz="1200">
                <a:solidFill>
                  <a:schemeClr val="dk1"/>
                </a:solidFill>
                <a:latin typeface="Arial"/>
                <a:ea typeface="Arial"/>
                <a:cs typeface="Arial"/>
                <a:sym typeface="Arial"/>
              </a:rPr>
              <a:t> unless specific sequence/temporal representations or very large sample sizes are used. </a:t>
            </a:r>
            <a:endParaRPr/>
          </a:p>
          <a:p>
            <a:pPr indent="-152400" lvl="0" marL="228600" marR="0" rtl="0" algn="l">
              <a:lnSpc>
                <a:spcPct val="90000"/>
              </a:lnSpc>
              <a:spcBef>
                <a:spcPts val="100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1200"/>
              <a:buFont typeface="Arial"/>
              <a:buChar char="•"/>
            </a:pPr>
            <a:r>
              <a:rPr lang="en-US" sz="1200">
                <a:solidFill>
                  <a:schemeClr val="dk1"/>
                </a:solidFill>
                <a:latin typeface="Arial"/>
                <a:ea typeface="Arial"/>
                <a:cs typeface="Arial"/>
                <a:sym typeface="Arial"/>
              </a:rPr>
              <a:t>Many pediatric studies report </a:t>
            </a:r>
            <a:r>
              <a:rPr b="1" lang="en-US" sz="1200">
                <a:solidFill>
                  <a:schemeClr val="dk1"/>
                </a:solidFill>
                <a:latin typeface="Arial"/>
                <a:ea typeface="Arial"/>
                <a:cs typeface="Arial"/>
                <a:sym typeface="Arial"/>
              </a:rPr>
              <a:t>good discrimination</a:t>
            </a:r>
            <a:r>
              <a:rPr lang="en-US" sz="1200">
                <a:solidFill>
                  <a:schemeClr val="dk1"/>
                </a:solidFill>
                <a:latin typeface="Arial"/>
                <a:ea typeface="Arial"/>
                <a:cs typeface="Arial"/>
                <a:sym typeface="Arial"/>
              </a:rPr>
              <a:t> but </a:t>
            </a:r>
            <a:r>
              <a:rPr b="1" lang="en-US" sz="1200">
                <a:solidFill>
                  <a:schemeClr val="dk1"/>
                </a:solidFill>
                <a:latin typeface="Arial"/>
                <a:ea typeface="Arial"/>
                <a:cs typeface="Arial"/>
                <a:sym typeface="Arial"/>
              </a:rPr>
              <a:t>limited external validation, inconsistent calibration assessment, and little standardized head-to-head benchmarking</a:t>
            </a:r>
            <a:r>
              <a:rPr lang="en-US" sz="1200">
                <a:solidFill>
                  <a:schemeClr val="dk1"/>
                </a:solidFill>
                <a:latin typeface="Arial"/>
                <a:ea typeface="Arial"/>
                <a:cs typeface="Arial"/>
                <a:sym typeface="Arial"/>
              </a:rPr>
              <a:t> (i.e., DL vs GBDT with equal tuning).</a:t>
            </a:r>
            <a:endParaRPr/>
          </a:p>
          <a:p>
            <a:pPr indent="0" lvl="0" marL="228600" marR="0" rtl="0" algn="l">
              <a:lnSpc>
                <a:spcPct val="120000"/>
              </a:lnSpc>
              <a:spcBef>
                <a:spcPts val="1000"/>
              </a:spcBef>
              <a:spcAft>
                <a:spcPts val="0"/>
              </a:spcAft>
              <a:buClr>
                <a:schemeClr val="dk1"/>
              </a:buClr>
              <a:buSzPts val="1200"/>
              <a:buFont typeface="Arial"/>
              <a:buNone/>
            </a:pPr>
            <a:r>
              <a:t/>
            </a:r>
            <a:endParaRPr b="0" sz="1200" u="none" strike="noStrike">
              <a:solidFill>
                <a:srgbClr val="000000"/>
              </a:solidFill>
              <a:latin typeface="Noto Sans Symbols"/>
              <a:ea typeface="Noto Sans Symbols"/>
              <a:cs typeface="Noto Sans Symbols"/>
              <a:sym typeface="Noto Sans Symbols"/>
            </a:endParaRPr>
          </a:p>
        </p:txBody>
      </p:sp>
      <p:cxnSp>
        <p:nvCxnSpPr>
          <p:cNvPr id="139" name="Google Shape;139;p5"/>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40" name="Google Shape;140;p5"/>
          <p:cNvPicPr preferRelativeResize="0"/>
          <p:nvPr/>
        </p:nvPicPr>
        <p:blipFill rotWithShape="1">
          <a:blip r:embed="rId3">
            <a:alphaModFix/>
          </a:blip>
          <a:srcRect b="0" l="0" r="0" t="0"/>
          <a:stretch/>
        </p:blipFill>
        <p:spPr>
          <a:xfrm>
            <a:off x="109182" y="37016"/>
            <a:ext cx="1678675" cy="4917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6"/>
          <p:cNvPicPr preferRelativeResize="0"/>
          <p:nvPr/>
        </p:nvPicPr>
        <p:blipFill rotWithShape="1">
          <a:blip r:embed="rId3">
            <a:alphaModFix/>
          </a:blip>
          <a:srcRect b="0" l="0" r="0" t="0"/>
          <a:stretch/>
        </p:blipFill>
        <p:spPr>
          <a:xfrm>
            <a:off x="0" y="680085"/>
            <a:ext cx="9144000" cy="4463415"/>
          </a:xfrm>
          <a:prstGeom prst="rect">
            <a:avLst/>
          </a:prstGeom>
          <a:noFill/>
          <a:ln>
            <a:noFill/>
          </a:ln>
        </p:spPr>
      </p:pic>
      <p:sp>
        <p:nvSpPr>
          <p:cNvPr id="146" name="Google Shape;146;p6"/>
          <p:cNvSpPr txBox="1"/>
          <p:nvPr/>
        </p:nvSpPr>
        <p:spPr>
          <a:xfrm>
            <a:off x="109468" y="33033"/>
            <a:ext cx="8950817"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Comparative Summary of Existing Literature</a:t>
            </a:r>
            <a:endParaRPr sz="1800">
              <a:solidFill>
                <a:schemeClr val="dk1"/>
              </a:solidFill>
              <a:latin typeface="Arial"/>
              <a:ea typeface="Arial"/>
              <a:cs typeface="Arial"/>
              <a:sym typeface="Arial"/>
            </a:endParaRPr>
          </a:p>
        </p:txBody>
      </p:sp>
      <p:cxnSp>
        <p:nvCxnSpPr>
          <p:cNvPr id="147" name="Google Shape;147;p6"/>
          <p:cNvCxnSpPr/>
          <p:nvPr/>
        </p:nvCxnSpPr>
        <p:spPr>
          <a:xfrm>
            <a:off x="-66144" y="483090"/>
            <a:ext cx="9302040" cy="360"/>
          </a:xfrm>
          <a:prstGeom prst="straightConnector1">
            <a:avLst/>
          </a:prstGeom>
          <a:noFill/>
          <a:ln cap="flat" cmpd="sng" w="9525">
            <a:solidFill>
              <a:srgbClr val="083C77"/>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7"/>
          <p:cNvPicPr preferRelativeResize="0"/>
          <p:nvPr/>
        </p:nvPicPr>
        <p:blipFill rotWithShape="1">
          <a:blip r:embed="rId3">
            <a:alphaModFix/>
          </a:blip>
          <a:srcRect b="0" l="0" r="0" t="0"/>
          <a:stretch/>
        </p:blipFill>
        <p:spPr>
          <a:xfrm>
            <a:off x="0" y="890427"/>
            <a:ext cx="9144000" cy="3602691"/>
          </a:xfrm>
          <a:prstGeom prst="rect">
            <a:avLst/>
          </a:prstGeom>
          <a:noFill/>
          <a:ln>
            <a:noFill/>
          </a:ln>
        </p:spPr>
      </p:pic>
      <p:cxnSp>
        <p:nvCxnSpPr>
          <p:cNvPr id="153" name="Google Shape;153;p7"/>
          <p:cNvCxnSpPr/>
          <p:nvPr/>
        </p:nvCxnSpPr>
        <p:spPr>
          <a:xfrm>
            <a:off x="-79020" y="515926"/>
            <a:ext cx="9302040" cy="360"/>
          </a:xfrm>
          <a:prstGeom prst="straightConnector1">
            <a:avLst/>
          </a:prstGeom>
          <a:noFill/>
          <a:ln cap="flat" cmpd="sng" w="9525">
            <a:solidFill>
              <a:srgbClr val="083C77"/>
            </a:solidFill>
            <a:prstDash val="solid"/>
            <a:round/>
            <a:headEnd len="sm" w="sm" type="none"/>
            <a:tailEnd len="sm" w="sm" type="none"/>
          </a:ln>
        </p:spPr>
      </p:cxnSp>
      <p:sp>
        <p:nvSpPr>
          <p:cNvPr id="154" name="Google Shape;154;p7"/>
          <p:cNvSpPr txBox="1"/>
          <p:nvPr/>
        </p:nvSpPr>
        <p:spPr>
          <a:xfrm>
            <a:off x="193183" y="58073"/>
            <a:ext cx="8950817"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Comparative Summary of Existing Literature</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600"/>
              <a:buFont typeface="Arial"/>
              <a:buNone/>
            </a:pPr>
            <a:r>
              <a:rPr lang="en-US" sz="3600"/>
              <a:t>Literature Review</a:t>
            </a:r>
            <a:endParaRPr b="0" sz="3500" u="none" strike="noStrike">
              <a:solidFill>
                <a:schemeClr val="dk1"/>
              </a:solidFill>
              <a:latin typeface="Arial"/>
              <a:ea typeface="Arial"/>
              <a:cs typeface="Arial"/>
              <a:sym typeface="Arial"/>
            </a:endParaRPr>
          </a:p>
        </p:txBody>
      </p:sp>
      <p:sp>
        <p:nvSpPr>
          <p:cNvPr id="160" name="Google Shape;160;p8"/>
          <p:cNvSpPr txBox="1"/>
          <p:nvPr>
            <p:ph idx="1" type="subTitle"/>
          </p:nvPr>
        </p:nvSpPr>
        <p:spPr>
          <a:xfrm>
            <a:off x="228600" y="1796076"/>
            <a:ext cx="8686440" cy="680456"/>
          </a:xfrm>
          <a:prstGeom prst="rect">
            <a:avLst/>
          </a:prstGeom>
          <a:noFill/>
          <a:ln>
            <a:noFill/>
          </a:ln>
        </p:spPr>
        <p:txBody>
          <a:bodyPr anchorCtr="0" anchor="t" bIns="91425" lIns="91425" spcFirstLastPara="1" rIns="91425" wrap="square" tIns="91425">
            <a:normAutofit/>
          </a:bodyPr>
          <a:lstStyle/>
          <a:p>
            <a:pPr indent="-228600" lvl="0" marL="228600" marR="0" rtl="0" algn="l">
              <a:lnSpc>
                <a:spcPct val="9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Gaps Identified:</a:t>
            </a:r>
            <a:endParaRPr/>
          </a:p>
          <a:p>
            <a:pPr indent="-114300" lvl="0" marL="22860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228600" marR="0" rtl="0" algn="l">
              <a:lnSpc>
                <a:spcPct val="120000"/>
              </a:lnSpc>
              <a:spcBef>
                <a:spcPts val="1000"/>
              </a:spcBef>
              <a:spcAft>
                <a:spcPts val="0"/>
              </a:spcAft>
              <a:buClr>
                <a:schemeClr val="dk1"/>
              </a:buClr>
              <a:buSzPts val="1200"/>
              <a:buFont typeface="Arial"/>
              <a:buNone/>
            </a:pPr>
            <a:r>
              <a:t/>
            </a:r>
            <a:endParaRPr b="0" sz="1200" u="none" strike="noStrike">
              <a:solidFill>
                <a:srgbClr val="000000"/>
              </a:solidFill>
              <a:latin typeface="Noto Sans Symbols"/>
              <a:ea typeface="Noto Sans Symbols"/>
              <a:cs typeface="Noto Sans Symbols"/>
              <a:sym typeface="Noto Sans Symbols"/>
            </a:endParaRPr>
          </a:p>
        </p:txBody>
      </p:sp>
      <p:cxnSp>
        <p:nvCxnSpPr>
          <p:cNvPr id="161" name="Google Shape;161;p8"/>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62" name="Google Shape;162;p8"/>
          <p:cNvPicPr preferRelativeResize="0"/>
          <p:nvPr/>
        </p:nvPicPr>
        <p:blipFill rotWithShape="1">
          <a:blip r:embed="rId3">
            <a:alphaModFix/>
          </a:blip>
          <a:srcRect b="0" l="0" r="0" t="0"/>
          <a:stretch/>
        </p:blipFill>
        <p:spPr>
          <a:xfrm>
            <a:off x="95534" y="64311"/>
            <a:ext cx="1678675" cy="491752"/>
          </a:xfrm>
          <a:prstGeom prst="rect">
            <a:avLst/>
          </a:prstGeom>
          <a:noFill/>
          <a:ln>
            <a:noFill/>
          </a:ln>
        </p:spPr>
      </p:pic>
      <p:sp>
        <p:nvSpPr>
          <p:cNvPr id="163" name="Google Shape;163;p8"/>
          <p:cNvSpPr/>
          <p:nvPr/>
        </p:nvSpPr>
        <p:spPr>
          <a:xfrm>
            <a:off x="228600" y="2355544"/>
            <a:ext cx="8686440" cy="2123658"/>
          </a:xfrm>
          <a:prstGeom prst="rect">
            <a:avLst/>
          </a:prstGeom>
          <a:noFill/>
          <a:ln>
            <a:noFill/>
          </a:ln>
        </p:spPr>
        <p:txBody>
          <a:bodyPr anchorCtr="0" anchor="ctr" bIns="45700" lIns="91425" spcFirstLastPara="1" rIns="91425" wrap="square" tIns="45700">
            <a:spAutoFit/>
          </a:bodyPr>
          <a:lstStyle/>
          <a:p>
            <a:pPr indent="-76200" lvl="0" marL="0" marR="0" rtl="0" algn="l">
              <a:lnSpc>
                <a:spcPct val="100000"/>
              </a:lnSpc>
              <a:spcBef>
                <a:spcPts val="0"/>
              </a:spcBef>
              <a:spcAft>
                <a:spcPts val="0"/>
              </a:spcAft>
              <a:buClr>
                <a:schemeClr val="dk1"/>
              </a:buClr>
              <a:buSzPts val="1200"/>
              <a:buFont typeface="Arial"/>
              <a:buChar char="•"/>
            </a:pPr>
            <a:r>
              <a:rPr b="1" i="0" lang="en-US" sz="1200" u="none" cap="none" strike="noStrike">
                <a:solidFill>
                  <a:schemeClr val="dk1"/>
                </a:solidFill>
                <a:latin typeface="Arial"/>
                <a:ea typeface="Arial"/>
                <a:cs typeface="Arial"/>
                <a:sym typeface="Arial"/>
              </a:rPr>
              <a:t>Direct, standardized head-to-head comparison of ML vs DL on the PIC database</a:t>
            </a:r>
            <a:r>
              <a:rPr b="0" i="0" lang="en-US" sz="1200" u="none" cap="none" strike="noStrike">
                <a:solidFill>
                  <a:schemeClr val="dk1"/>
                </a:solidFill>
                <a:latin typeface="Arial"/>
                <a:ea typeface="Arial"/>
                <a:cs typeface="Arial"/>
                <a:sym typeface="Arial"/>
              </a:rPr>
              <a:t>, using identical preprocessing, hyperparameter search, and evaluation).</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76200" lvl="0" marL="0" marR="0" rtl="0" algn="l">
              <a:lnSpc>
                <a:spcPct val="100000"/>
              </a:lnSpc>
              <a:spcBef>
                <a:spcPts val="0"/>
              </a:spcBef>
              <a:spcAft>
                <a:spcPts val="0"/>
              </a:spcAft>
              <a:buClr>
                <a:schemeClr val="dk1"/>
              </a:buClr>
              <a:buSzPts val="1200"/>
              <a:buFont typeface="Arial"/>
              <a:buChar char="•"/>
            </a:pPr>
            <a:r>
              <a:rPr b="1" i="0" lang="en-US" sz="1200" u="none" cap="none" strike="noStrike">
                <a:solidFill>
                  <a:schemeClr val="dk1"/>
                </a:solidFill>
                <a:latin typeface="Arial"/>
                <a:ea typeface="Arial"/>
                <a:cs typeface="Arial"/>
                <a:sym typeface="Arial"/>
              </a:rPr>
              <a:t>Calibration and clinical-utility evaluation</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76200" lvl="0" marL="0" marR="0" rtl="0" algn="l">
              <a:lnSpc>
                <a:spcPct val="100000"/>
              </a:lnSpc>
              <a:spcBef>
                <a:spcPts val="0"/>
              </a:spcBef>
              <a:spcAft>
                <a:spcPts val="0"/>
              </a:spcAft>
              <a:buClr>
                <a:schemeClr val="dk1"/>
              </a:buClr>
              <a:buSzPts val="1200"/>
              <a:buFont typeface="Arial"/>
              <a:buChar char="•"/>
            </a:pPr>
            <a:r>
              <a:rPr b="1" i="0" lang="en-US" sz="1200" u="none" cap="none" strike="noStrike">
                <a:solidFill>
                  <a:schemeClr val="dk1"/>
                </a:solidFill>
                <a:latin typeface="Arial"/>
                <a:ea typeface="Arial"/>
                <a:cs typeface="Arial"/>
                <a:sym typeface="Arial"/>
              </a:rPr>
              <a:t>Temporal vs aggregated representations</a:t>
            </a:r>
            <a:r>
              <a:rPr b="0" i="0" lang="en-US" sz="1200" u="none" cap="none" strike="noStrike">
                <a:solidFill>
                  <a:schemeClr val="dk1"/>
                </a:solidFill>
                <a:latin typeface="Arial"/>
                <a:ea typeface="Arial"/>
                <a:cs typeface="Arial"/>
                <a:sym typeface="Arial"/>
              </a:rPr>
              <a:t>: quantify how much sequential DL gains when given raw time-stamped chart events vs aggregated per-stay features used by tree models. Prior works used one or the other without systematic comparison. </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76200" lvl="0" marL="0" marR="0" rtl="0" algn="l">
              <a:lnSpc>
                <a:spcPct val="100000"/>
              </a:lnSpc>
              <a:spcBef>
                <a:spcPts val="0"/>
              </a:spcBef>
              <a:spcAft>
                <a:spcPts val="0"/>
              </a:spcAft>
              <a:buClr>
                <a:schemeClr val="dk1"/>
              </a:buClr>
              <a:buSzPts val="1200"/>
              <a:buFont typeface="Arial"/>
              <a:buChar char="•"/>
            </a:pPr>
            <a:r>
              <a:rPr b="1" i="0" lang="en-US" sz="1200" u="none" cap="none" strike="noStrike">
                <a:solidFill>
                  <a:schemeClr val="dk1"/>
                </a:solidFill>
                <a:latin typeface="Arial"/>
                <a:ea typeface="Arial"/>
                <a:cs typeface="Arial"/>
                <a:sym typeface="Arial"/>
              </a:rPr>
              <a:t>External validation and subgroup fairness</a:t>
            </a:r>
            <a:r>
              <a:rPr b="0" i="0" lang="en-US" sz="1200" u="none" cap="none" strike="noStrike">
                <a:solidFill>
                  <a:schemeClr val="dk1"/>
                </a:solidFill>
                <a:latin typeface="Arial"/>
                <a:ea typeface="Arial"/>
                <a:cs typeface="Arial"/>
                <a:sym typeface="Arial"/>
              </a:rPr>
              <a:t> (age groups, diagnosis categories) for pediatric models — many papers report internal performance only.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600"/>
              <a:buFont typeface="Arial"/>
              <a:buNone/>
            </a:pPr>
            <a:r>
              <a:rPr lang="en-US" sz="3600"/>
              <a:t>Literature Review</a:t>
            </a:r>
            <a:endParaRPr b="0" sz="3500" u="none" strike="noStrike">
              <a:solidFill>
                <a:schemeClr val="dk1"/>
              </a:solidFill>
              <a:latin typeface="Arial"/>
              <a:ea typeface="Arial"/>
              <a:cs typeface="Arial"/>
              <a:sym typeface="Arial"/>
            </a:endParaRPr>
          </a:p>
        </p:txBody>
      </p:sp>
      <p:sp>
        <p:nvSpPr>
          <p:cNvPr id="169" name="Google Shape;169;p9"/>
          <p:cNvSpPr txBox="1"/>
          <p:nvPr>
            <p:ph idx="1" type="subTitle"/>
          </p:nvPr>
        </p:nvSpPr>
        <p:spPr>
          <a:xfrm>
            <a:off x="228600" y="1733400"/>
            <a:ext cx="8686440" cy="3180960"/>
          </a:xfrm>
          <a:prstGeom prst="rect">
            <a:avLst/>
          </a:prstGeom>
          <a:noFill/>
          <a:ln>
            <a:noFill/>
          </a:ln>
        </p:spPr>
        <p:txBody>
          <a:bodyPr anchorCtr="0" anchor="t" bIns="91425" lIns="91425" spcFirstLastPara="1" rIns="91425" wrap="square" tIns="91425">
            <a:normAutofit/>
          </a:bodyPr>
          <a:lstStyle/>
          <a:p>
            <a:pPr indent="-228600" lvl="0" marL="228600" marR="0" rtl="0" algn="l">
              <a:lnSpc>
                <a:spcPct val="9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Summary:</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28600" lvl="0" marL="228600" marR="0" rtl="0" algn="l">
              <a:lnSpc>
                <a:spcPct val="120000"/>
              </a:lnSpc>
              <a:spcBef>
                <a:spcPts val="1000"/>
              </a:spcBef>
              <a:spcAft>
                <a:spcPts val="0"/>
              </a:spcAft>
              <a:buClr>
                <a:schemeClr val="dk1"/>
              </a:buClr>
              <a:buSzPts val="1400"/>
              <a:buFont typeface="Arial"/>
              <a:buChar char="•"/>
            </a:pPr>
            <a:r>
              <a:rPr lang="en-US" sz="1400">
                <a:solidFill>
                  <a:schemeClr val="dk1"/>
                </a:solidFill>
                <a:latin typeface="Arial"/>
                <a:ea typeface="Arial"/>
                <a:cs typeface="Arial"/>
                <a:sym typeface="Arial"/>
              </a:rPr>
              <a:t>Most pediatric ICU studies use either deep sequence models or tree-based ML models, but none compare them fairly on the same PIC dataset. Prior work also rarely evaluates calibration, clinical utility, or subgroup performance. Our study fills this gap by conducting a rigorous, standardized ML vs DL benchmark on the PIC database using identical preprocessing and evaluation protocols.</a:t>
            </a:r>
            <a:endParaRPr b="0" sz="1400" u="none" strike="noStrike">
              <a:solidFill>
                <a:srgbClr val="000000"/>
              </a:solidFill>
              <a:latin typeface="Noto Sans Symbols"/>
              <a:ea typeface="Noto Sans Symbols"/>
              <a:cs typeface="Noto Sans Symbols"/>
              <a:sym typeface="Noto Sans Symbols"/>
            </a:endParaRPr>
          </a:p>
        </p:txBody>
      </p:sp>
      <p:cxnSp>
        <p:nvCxnSpPr>
          <p:cNvPr id="170" name="Google Shape;170;p9"/>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71" name="Google Shape;171;p9"/>
          <p:cNvPicPr preferRelativeResize="0"/>
          <p:nvPr/>
        </p:nvPicPr>
        <p:blipFill rotWithShape="1">
          <a:blip r:embed="rId3">
            <a:alphaModFix/>
          </a:blip>
          <a:srcRect b="0" l="0" r="0" t="0"/>
          <a:stretch/>
        </p:blipFill>
        <p:spPr>
          <a:xfrm>
            <a:off x="95535" y="37016"/>
            <a:ext cx="1678675" cy="4917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Arial"/>
              <a:buNone/>
            </a:pPr>
            <a:r>
              <a:rPr b="0" lang="en-US" sz="3500" u="none" strike="noStrike">
                <a:solidFill>
                  <a:schemeClr val="dk1"/>
                </a:solidFill>
                <a:latin typeface="Arial"/>
                <a:ea typeface="Arial"/>
                <a:cs typeface="Arial"/>
                <a:sym typeface="Arial"/>
              </a:rPr>
              <a:t>Problem Statement</a:t>
            </a:r>
            <a:endParaRPr/>
          </a:p>
        </p:txBody>
      </p:sp>
      <p:cxnSp>
        <p:nvCxnSpPr>
          <p:cNvPr id="177" name="Google Shape;177;p10"/>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178" name="Google Shape;178;p10"/>
          <p:cNvPicPr preferRelativeResize="0"/>
          <p:nvPr/>
        </p:nvPicPr>
        <p:blipFill rotWithShape="1">
          <a:blip r:embed="rId3">
            <a:alphaModFix/>
          </a:blip>
          <a:srcRect b="0" l="0" r="0" t="0"/>
          <a:stretch/>
        </p:blipFill>
        <p:spPr>
          <a:xfrm>
            <a:off x="95534" y="37016"/>
            <a:ext cx="1678675" cy="491752"/>
          </a:xfrm>
          <a:prstGeom prst="rect">
            <a:avLst/>
          </a:prstGeom>
          <a:noFill/>
          <a:ln>
            <a:noFill/>
          </a:ln>
        </p:spPr>
      </p:pic>
      <p:sp>
        <p:nvSpPr>
          <p:cNvPr id="179" name="Google Shape;179;p10"/>
          <p:cNvSpPr txBox="1"/>
          <p:nvPr/>
        </p:nvSpPr>
        <p:spPr>
          <a:xfrm>
            <a:off x="114120" y="2461032"/>
            <a:ext cx="8915400" cy="2111805"/>
          </a:xfrm>
          <a:prstGeom prst="rect">
            <a:avLst/>
          </a:prstGeom>
          <a:noFill/>
          <a:ln>
            <a:noFill/>
          </a:ln>
        </p:spPr>
        <p:txBody>
          <a:bodyPr anchorCtr="0" anchor="t" bIns="91425" lIns="91425" spcFirstLastPara="1" rIns="91425" wrap="square" tIns="91425">
            <a:normAutofit/>
          </a:bodyPr>
          <a:lstStyle/>
          <a:p>
            <a:pPr indent="0" lvl="0" marL="0" marR="0" rtl="0" algn="ctr">
              <a:lnSpc>
                <a:spcPct val="12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A Comparative Study of Machine Learning and Deep Learning Models on the Pediatric Intensive Care (PIC) Database</a:t>
            </a:r>
            <a:endParaRPr sz="2400">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5"/>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Arial"/>
              <a:buNone/>
            </a:pPr>
            <a:r>
              <a:rPr b="0" lang="en-US" sz="3500" u="none" strike="noStrike">
                <a:solidFill>
                  <a:schemeClr val="dk1"/>
                </a:solidFill>
                <a:latin typeface="Arial"/>
                <a:ea typeface="Arial"/>
                <a:cs typeface="Arial"/>
                <a:sym typeface="Arial"/>
              </a:rPr>
              <a:t>Objectives</a:t>
            </a:r>
            <a:endParaRPr/>
          </a:p>
        </p:txBody>
      </p:sp>
      <p:cxnSp>
        <p:nvCxnSpPr>
          <p:cNvPr id="185" name="Google Shape;185;p15"/>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sp>
        <p:nvSpPr>
          <p:cNvPr id="186" name="Google Shape;186;p15"/>
          <p:cNvSpPr txBox="1"/>
          <p:nvPr>
            <p:ph idx="1" type="subTitle"/>
          </p:nvPr>
        </p:nvSpPr>
        <p:spPr>
          <a:xfrm>
            <a:off x="127535" y="1713960"/>
            <a:ext cx="8881200" cy="2586000"/>
          </a:xfrm>
          <a:prstGeom prst="rect">
            <a:avLst/>
          </a:prstGeom>
          <a:noFill/>
          <a:ln>
            <a:noFill/>
          </a:ln>
        </p:spPr>
        <p:txBody>
          <a:bodyPr anchorCtr="0" anchor="ctr"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Char char="●"/>
            </a:pPr>
            <a:r>
              <a:rPr lang="en-US" sz="1800">
                <a:solidFill>
                  <a:schemeClr val="dk1"/>
                </a:solidFill>
              </a:rPr>
              <a:t>Early detection: </a:t>
            </a:r>
            <a:endParaRPr sz="1800">
              <a:solidFill>
                <a:schemeClr val="dk1"/>
              </a:solidFill>
            </a:endParaRPr>
          </a:p>
          <a:p>
            <a:pPr indent="0" lvl="0" marL="914400" marR="0" rtl="0" algn="l">
              <a:lnSpc>
                <a:spcPct val="100000"/>
              </a:lnSpc>
              <a:spcBef>
                <a:spcPts val="0"/>
              </a:spcBef>
              <a:spcAft>
                <a:spcPts val="0"/>
              </a:spcAft>
              <a:buNone/>
            </a:pPr>
            <a:r>
              <a:rPr lang="en-US" sz="1800">
                <a:solidFill>
                  <a:schemeClr val="dk1"/>
                </a:solidFill>
              </a:rPr>
              <a:t>When a patient is admitted model runs on the data and evaluates a risk score that can then be used to provide more monitoring and faster intervention in high risk cases.</a:t>
            </a:r>
            <a:endParaRPr sz="1800">
              <a:solidFill>
                <a:schemeClr val="dk1"/>
              </a:solidFill>
            </a:endParaRPr>
          </a:p>
          <a:p>
            <a:pPr indent="-342900" lvl="0" marL="457200" marR="0" rtl="0" algn="l">
              <a:lnSpc>
                <a:spcPct val="100000"/>
              </a:lnSpc>
              <a:spcBef>
                <a:spcPts val="0"/>
              </a:spcBef>
              <a:spcAft>
                <a:spcPts val="0"/>
              </a:spcAft>
              <a:buClr>
                <a:schemeClr val="dk1"/>
              </a:buClr>
              <a:buSzPts val="1800"/>
              <a:buChar char="●"/>
            </a:pPr>
            <a:r>
              <a:rPr lang="en-US" sz="1800">
                <a:solidFill>
                  <a:schemeClr val="dk1"/>
                </a:solidFill>
              </a:rPr>
              <a:t>Resource Allocation: </a:t>
            </a:r>
            <a:endParaRPr sz="1800">
              <a:solidFill>
                <a:schemeClr val="dk1"/>
              </a:solidFill>
            </a:endParaRPr>
          </a:p>
          <a:p>
            <a:pPr indent="0" lvl="0" marL="914400" marR="0" rtl="0" algn="l">
              <a:lnSpc>
                <a:spcPct val="100000"/>
              </a:lnSpc>
              <a:spcBef>
                <a:spcPts val="0"/>
              </a:spcBef>
              <a:spcAft>
                <a:spcPts val="0"/>
              </a:spcAft>
              <a:buNone/>
            </a:pPr>
            <a:r>
              <a:rPr lang="en-US" sz="1800">
                <a:solidFill>
                  <a:schemeClr val="dk1"/>
                </a:solidFill>
              </a:rPr>
              <a:t>Hospitals have limited beds and staff so we can priortize critical patients and allocate resources efficiently.</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 Continuous Monitoring: </a:t>
            </a:r>
            <a:endParaRPr sz="1800">
              <a:solidFill>
                <a:schemeClr val="dk1"/>
              </a:solidFill>
            </a:endParaRPr>
          </a:p>
          <a:p>
            <a:pPr indent="0" lvl="0" marL="457200" rtl="0" algn="l">
              <a:spcBef>
                <a:spcPts val="0"/>
              </a:spcBef>
              <a:spcAft>
                <a:spcPts val="0"/>
              </a:spcAft>
              <a:buNone/>
            </a:pPr>
            <a:r>
              <a:rPr lang="en-US" sz="1800">
                <a:solidFill>
                  <a:schemeClr val="dk1"/>
                </a:solidFill>
              </a:rPr>
              <a:t>	Model can run repeatedly on the patient data and predict real time risk scores that can be helpful in detecting deterioration early.</a:t>
            </a:r>
            <a:endParaRPr sz="1800">
              <a:solidFill>
                <a:schemeClr val="dk1"/>
              </a:solidFill>
            </a:endParaRPr>
          </a:p>
        </p:txBody>
      </p:sp>
      <p:pic>
        <p:nvPicPr>
          <p:cNvPr descr="A black and white text&#10;&#10;AI-generated content may be incorrect." id="187" name="Google Shape;187;p15"/>
          <p:cNvPicPr preferRelativeResize="0"/>
          <p:nvPr/>
        </p:nvPicPr>
        <p:blipFill rotWithShape="1">
          <a:blip r:embed="rId3">
            <a:alphaModFix/>
          </a:blip>
          <a:srcRect b="0" l="0" r="0" t="0"/>
          <a:stretch/>
        </p:blipFill>
        <p:spPr>
          <a:xfrm>
            <a:off x="127535" y="9720"/>
            <a:ext cx="1678675" cy="4917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txBox="1"/>
          <p:nvPr>
            <p:ph type="title"/>
          </p:nvPr>
        </p:nvSpPr>
        <p:spPr>
          <a:xfrm>
            <a:off x="228780" y="-389353"/>
            <a:ext cx="8686440" cy="1051560"/>
          </a:xfrm>
          <a:prstGeom prst="rect">
            <a:avLst/>
          </a:prstGeom>
          <a:noFill/>
          <a:ln>
            <a:noFill/>
          </a:ln>
        </p:spPr>
        <p:txBody>
          <a:bodyPr anchorCtr="0" anchor="b" bIns="91425" lIns="91425" spcFirstLastPara="1" rIns="91425" wrap="square" tIns="91425">
            <a:noAutofit/>
          </a:bodyPr>
          <a:lstStyle/>
          <a:p>
            <a:pPr indent="0" lvl="0" marL="0" rtl="0" algn="r">
              <a:lnSpc>
                <a:spcPct val="90000"/>
              </a:lnSpc>
              <a:spcBef>
                <a:spcPts val="0"/>
              </a:spcBef>
              <a:spcAft>
                <a:spcPts val="0"/>
              </a:spcAft>
              <a:buClr>
                <a:schemeClr val="dk1"/>
              </a:buClr>
              <a:buSzPts val="3500"/>
              <a:buFont typeface="Arial"/>
              <a:buNone/>
            </a:pPr>
            <a:r>
              <a:rPr lang="en-US" sz="3500"/>
              <a:t>Block Diagram</a:t>
            </a:r>
            <a:endParaRPr sz="3500"/>
          </a:p>
        </p:txBody>
      </p:sp>
      <p:pic>
        <p:nvPicPr>
          <p:cNvPr id="194" name="Google Shape;194;p11"/>
          <p:cNvPicPr preferRelativeResize="0"/>
          <p:nvPr/>
        </p:nvPicPr>
        <p:blipFill rotWithShape="1">
          <a:blip r:embed="rId3">
            <a:alphaModFix/>
          </a:blip>
          <a:srcRect b="0" l="0" r="0" t="0"/>
          <a:stretch/>
        </p:blipFill>
        <p:spPr>
          <a:xfrm>
            <a:off x="61012" y="764276"/>
            <a:ext cx="9021976" cy="4330296"/>
          </a:xfrm>
          <a:prstGeom prst="rect">
            <a:avLst/>
          </a:prstGeom>
          <a:noFill/>
          <a:ln>
            <a:noFill/>
          </a:ln>
        </p:spPr>
      </p:pic>
      <p:cxnSp>
        <p:nvCxnSpPr>
          <p:cNvPr id="195" name="Google Shape;195;p11"/>
          <p:cNvCxnSpPr/>
          <p:nvPr/>
        </p:nvCxnSpPr>
        <p:spPr>
          <a:xfrm>
            <a:off x="114390" y="662207"/>
            <a:ext cx="8915220" cy="0"/>
          </a:xfrm>
          <a:prstGeom prst="straightConnector1">
            <a:avLst/>
          </a:prstGeom>
          <a:noFill/>
          <a:ln cap="flat" cmpd="sng" w="9525">
            <a:solidFill>
              <a:srgbClr val="083C77"/>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228600" y="-374046"/>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600"/>
              <a:buFont typeface="Arial"/>
              <a:buNone/>
            </a:pPr>
            <a:r>
              <a:rPr lang="en-US" sz="3600"/>
              <a:t>Proposed Solution</a:t>
            </a:r>
            <a:endParaRPr b="0" sz="3500" u="none" strike="noStrike">
              <a:solidFill>
                <a:schemeClr val="dk1"/>
              </a:solidFill>
              <a:latin typeface="Arial"/>
              <a:ea typeface="Arial"/>
              <a:cs typeface="Arial"/>
              <a:sym typeface="Arial"/>
            </a:endParaRPr>
          </a:p>
        </p:txBody>
      </p:sp>
      <p:sp>
        <p:nvSpPr>
          <p:cNvPr id="201" name="Google Shape;201;p12"/>
          <p:cNvSpPr txBox="1"/>
          <p:nvPr>
            <p:ph idx="1" type="subTitle"/>
          </p:nvPr>
        </p:nvSpPr>
        <p:spPr>
          <a:xfrm>
            <a:off x="192225" y="673198"/>
            <a:ext cx="7954800" cy="3902100"/>
          </a:xfrm>
          <a:prstGeom prst="rect">
            <a:avLst/>
          </a:prstGeom>
          <a:noFill/>
          <a:ln>
            <a:noFill/>
          </a:ln>
        </p:spPr>
        <p:txBody>
          <a:bodyPr anchorCtr="0" anchor="ctr" bIns="45700" lIns="91425" spcFirstLastPara="1" rIns="91425" wrap="square" tIns="45700">
            <a:spAutoFit/>
          </a:bodyPr>
          <a:lstStyle/>
          <a:p>
            <a:pPr indent="-196850" lvl="0" marL="228600" marR="0" rtl="0" algn="l">
              <a:lnSpc>
                <a:spcPct val="90000"/>
              </a:lnSpc>
              <a:spcBef>
                <a:spcPts val="0"/>
              </a:spcBef>
              <a:spcAft>
                <a:spcPts val="0"/>
              </a:spcAft>
              <a:buClr>
                <a:srgbClr val="031E3B"/>
              </a:buClr>
              <a:buSzPts val="1350"/>
              <a:buFont typeface="Arial"/>
              <a:buChar char="•"/>
            </a:pPr>
            <a:r>
              <a:rPr b="1" lang="en-US" sz="1350" u="sng">
                <a:solidFill>
                  <a:srgbClr val="031E3B"/>
                </a:solidFill>
                <a:latin typeface="Arial"/>
                <a:ea typeface="Arial"/>
                <a:cs typeface="Arial"/>
                <a:sym typeface="Arial"/>
              </a:rPr>
              <a:t>Approach / Steps:</a:t>
            </a:r>
            <a:endParaRPr b="1" sz="1350" u="sng">
              <a:solidFill>
                <a:srgbClr val="031E3B"/>
              </a:solidFill>
              <a:latin typeface="Arial"/>
              <a:ea typeface="Arial"/>
              <a:cs typeface="Arial"/>
              <a:sym typeface="Arial"/>
            </a:endParaRPr>
          </a:p>
          <a:p>
            <a:pPr indent="-196850" lvl="0" marL="228600" marR="0" rtl="0" algn="l">
              <a:lnSpc>
                <a:spcPct val="90000"/>
              </a:lnSpc>
              <a:spcBef>
                <a:spcPts val="1000"/>
              </a:spcBef>
              <a:spcAft>
                <a:spcPts val="0"/>
              </a:spcAft>
              <a:buClr>
                <a:schemeClr val="dk1"/>
              </a:buClr>
              <a:buSzPts val="1300"/>
              <a:buFont typeface="Arial"/>
              <a:buChar char="•"/>
            </a:pPr>
            <a:r>
              <a:rPr b="1" lang="en-US" sz="1300">
                <a:solidFill>
                  <a:schemeClr val="dk1"/>
                </a:solidFill>
                <a:latin typeface="Arial"/>
                <a:ea typeface="Arial"/>
                <a:cs typeface="Arial"/>
                <a:sym typeface="Arial"/>
              </a:rPr>
              <a:t>Data Preprocessing: </a:t>
            </a:r>
            <a:endParaRPr sz="900"/>
          </a:p>
          <a:p>
            <a:pPr indent="0" lvl="0" marL="457200" marR="0" rtl="0" algn="l">
              <a:lnSpc>
                <a:spcPct val="90000"/>
              </a:lnSpc>
              <a:spcBef>
                <a:spcPts val="1000"/>
              </a:spcBef>
              <a:spcAft>
                <a:spcPts val="0"/>
              </a:spcAft>
              <a:buNone/>
            </a:pPr>
            <a:r>
              <a:rPr lang="en-US" sz="1300">
                <a:solidFill>
                  <a:schemeClr val="dk1"/>
                </a:solidFill>
                <a:latin typeface="Arial"/>
                <a:ea typeface="Arial"/>
                <a:cs typeface="Arial"/>
                <a:sym typeface="Arial"/>
              </a:rPr>
              <a:t>Clean, merge 16 PIC tables, handle missing values.</a:t>
            </a:r>
            <a:endParaRPr sz="1300">
              <a:solidFill>
                <a:schemeClr val="dk1"/>
              </a:solidFill>
              <a:latin typeface="Arial"/>
              <a:ea typeface="Arial"/>
              <a:cs typeface="Arial"/>
              <a:sym typeface="Arial"/>
            </a:endParaRPr>
          </a:p>
          <a:p>
            <a:pPr indent="-196850" lvl="0" marL="228600" marR="0" rtl="0" algn="l">
              <a:lnSpc>
                <a:spcPct val="90000"/>
              </a:lnSpc>
              <a:spcBef>
                <a:spcPts val="1000"/>
              </a:spcBef>
              <a:spcAft>
                <a:spcPts val="0"/>
              </a:spcAft>
              <a:buClr>
                <a:schemeClr val="dk1"/>
              </a:buClr>
              <a:buSzPts val="1300"/>
              <a:buFont typeface="Arial"/>
              <a:buChar char="•"/>
            </a:pPr>
            <a:r>
              <a:rPr b="1" lang="en-US" sz="1300">
                <a:solidFill>
                  <a:schemeClr val="dk1"/>
                </a:solidFill>
                <a:latin typeface="Arial"/>
                <a:ea typeface="Arial"/>
                <a:cs typeface="Arial"/>
                <a:sym typeface="Arial"/>
              </a:rPr>
              <a:t>Label Definition: </a:t>
            </a:r>
            <a:endParaRPr sz="900"/>
          </a:p>
          <a:p>
            <a:pPr indent="0" lvl="0" marL="457200" marR="0" rtl="0" algn="l">
              <a:lnSpc>
                <a:spcPct val="90000"/>
              </a:lnSpc>
              <a:spcBef>
                <a:spcPts val="1000"/>
              </a:spcBef>
              <a:spcAft>
                <a:spcPts val="0"/>
              </a:spcAft>
              <a:buNone/>
            </a:pPr>
            <a:r>
              <a:rPr lang="en-US" sz="1300">
                <a:solidFill>
                  <a:schemeClr val="dk1"/>
                </a:solidFill>
                <a:latin typeface="Arial"/>
                <a:ea typeface="Arial"/>
                <a:cs typeface="Arial"/>
                <a:sym typeface="Arial"/>
              </a:rPr>
              <a:t>Define outcomes: mortality, LOS, ventilation, readmission, organ support, sepsis.</a:t>
            </a:r>
            <a:endParaRPr sz="1300">
              <a:solidFill>
                <a:schemeClr val="dk1"/>
              </a:solidFill>
              <a:latin typeface="Arial"/>
              <a:ea typeface="Arial"/>
              <a:cs typeface="Arial"/>
              <a:sym typeface="Arial"/>
            </a:endParaRPr>
          </a:p>
          <a:p>
            <a:pPr indent="-196850" lvl="0" marL="228600" marR="0" rtl="0" algn="l">
              <a:lnSpc>
                <a:spcPct val="90000"/>
              </a:lnSpc>
              <a:spcBef>
                <a:spcPts val="1000"/>
              </a:spcBef>
              <a:spcAft>
                <a:spcPts val="0"/>
              </a:spcAft>
              <a:buClr>
                <a:schemeClr val="dk1"/>
              </a:buClr>
              <a:buSzPts val="1300"/>
              <a:buFont typeface="Arial"/>
              <a:buChar char="•"/>
            </a:pPr>
            <a:r>
              <a:rPr b="1" lang="en-US" sz="1300">
                <a:solidFill>
                  <a:schemeClr val="dk1"/>
                </a:solidFill>
                <a:latin typeface="Arial"/>
                <a:ea typeface="Arial"/>
                <a:cs typeface="Arial"/>
                <a:sym typeface="Arial"/>
              </a:rPr>
              <a:t>Feature Engineering: </a:t>
            </a:r>
            <a:endParaRPr sz="900"/>
          </a:p>
          <a:p>
            <a:pPr indent="0" lvl="0" marL="457200" marR="0" rtl="0" algn="l">
              <a:lnSpc>
                <a:spcPct val="90000"/>
              </a:lnSpc>
              <a:spcBef>
                <a:spcPts val="1000"/>
              </a:spcBef>
              <a:spcAft>
                <a:spcPts val="0"/>
              </a:spcAft>
              <a:buNone/>
            </a:pPr>
            <a:r>
              <a:rPr lang="en-US" sz="1300">
                <a:solidFill>
                  <a:schemeClr val="dk1"/>
                </a:solidFill>
                <a:latin typeface="Arial"/>
                <a:ea typeface="Arial"/>
                <a:cs typeface="Arial"/>
                <a:sym typeface="Arial"/>
              </a:rPr>
              <a:t>Static features (demographics, comorbidities), temporal features (vitals, labs).</a:t>
            </a:r>
            <a:endParaRPr sz="1300">
              <a:solidFill>
                <a:schemeClr val="dk1"/>
              </a:solidFill>
              <a:latin typeface="Arial"/>
              <a:ea typeface="Arial"/>
              <a:cs typeface="Arial"/>
              <a:sym typeface="Arial"/>
            </a:endParaRPr>
          </a:p>
          <a:p>
            <a:pPr indent="-196850" lvl="0" marL="228600" marR="0" rtl="0" algn="l">
              <a:lnSpc>
                <a:spcPct val="90000"/>
              </a:lnSpc>
              <a:spcBef>
                <a:spcPts val="1000"/>
              </a:spcBef>
              <a:spcAft>
                <a:spcPts val="0"/>
              </a:spcAft>
              <a:buClr>
                <a:schemeClr val="dk1"/>
              </a:buClr>
              <a:buSzPts val="1300"/>
              <a:buFont typeface="Arial"/>
              <a:buChar char="•"/>
            </a:pPr>
            <a:r>
              <a:rPr b="1" lang="en-US" sz="1300">
                <a:solidFill>
                  <a:schemeClr val="dk1"/>
                </a:solidFill>
                <a:latin typeface="Arial"/>
                <a:ea typeface="Arial"/>
                <a:cs typeface="Arial"/>
                <a:sym typeface="Arial"/>
              </a:rPr>
              <a:t>Model Training: </a:t>
            </a:r>
            <a:endParaRPr sz="900"/>
          </a:p>
          <a:p>
            <a:pPr indent="0" lvl="0" marL="457200" marR="0" rtl="0" algn="l">
              <a:lnSpc>
                <a:spcPct val="90000"/>
              </a:lnSpc>
              <a:spcBef>
                <a:spcPts val="1000"/>
              </a:spcBef>
              <a:spcAft>
                <a:spcPts val="0"/>
              </a:spcAft>
              <a:buNone/>
            </a:pPr>
            <a:r>
              <a:rPr b="1" lang="en-US" sz="1300">
                <a:solidFill>
                  <a:srgbClr val="2486F2"/>
                </a:solidFill>
                <a:latin typeface="Arial"/>
                <a:ea typeface="Arial"/>
                <a:cs typeface="Arial"/>
                <a:sym typeface="Arial"/>
              </a:rPr>
              <a:t>Classical ML:  </a:t>
            </a:r>
            <a:r>
              <a:rPr lang="en-US" sz="1300">
                <a:solidFill>
                  <a:srgbClr val="2486F2"/>
                </a:solidFill>
                <a:latin typeface="Arial"/>
                <a:ea typeface="Arial"/>
                <a:cs typeface="Arial"/>
                <a:sym typeface="Arial"/>
              </a:rPr>
              <a:t>Logistic Regression, Random Forest, XGBoost.</a:t>
            </a:r>
            <a:endParaRPr sz="900"/>
          </a:p>
          <a:p>
            <a:pPr indent="0" lvl="0" marL="457200" marR="0" rtl="0" algn="l">
              <a:lnSpc>
                <a:spcPct val="90000"/>
              </a:lnSpc>
              <a:spcBef>
                <a:spcPts val="1000"/>
              </a:spcBef>
              <a:spcAft>
                <a:spcPts val="0"/>
              </a:spcAft>
              <a:buNone/>
            </a:pPr>
            <a:r>
              <a:rPr b="1" lang="en-US" sz="1300">
                <a:solidFill>
                  <a:srgbClr val="2486F2"/>
                </a:solidFill>
                <a:latin typeface="Arial"/>
                <a:ea typeface="Arial"/>
                <a:cs typeface="Arial"/>
                <a:sym typeface="Arial"/>
              </a:rPr>
              <a:t>DL:  </a:t>
            </a:r>
            <a:r>
              <a:rPr lang="en-US" sz="1300">
                <a:solidFill>
                  <a:srgbClr val="2486F2"/>
                </a:solidFill>
                <a:latin typeface="Arial"/>
                <a:ea typeface="Arial"/>
                <a:cs typeface="Arial"/>
                <a:sym typeface="Arial"/>
              </a:rPr>
              <a:t>MLP, LSTM/GRU, Transformer-based models.</a:t>
            </a:r>
            <a:endParaRPr sz="1300">
              <a:solidFill>
                <a:srgbClr val="2486F2"/>
              </a:solidFill>
              <a:latin typeface="Arial"/>
              <a:ea typeface="Arial"/>
              <a:cs typeface="Arial"/>
              <a:sym typeface="Arial"/>
            </a:endParaRPr>
          </a:p>
          <a:p>
            <a:pPr indent="-196850" lvl="0" marL="228600" marR="0" rtl="0" algn="l">
              <a:lnSpc>
                <a:spcPct val="90000"/>
              </a:lnSpc>
              <a:spcBef>
                <a:spcPts val="1000"/>
              </a:spcBef>
              <a:spcAft>
                <a:spcPts val="0"/>
              </a:spcAft>
              <a:buClr>
                <a:schemeClr val="dk1"/>
              </a:buClr>
              <a:buSzPts val="1300"/>
              <a:buFont typeface="Arial"/>
              <a:buChar char="•"/>
            </a:pPr>
            <a:r>
              <a:rPr b="1" lang="en-US" sz="1300">
                <a:solidFill>
                  <a:schemeClr val="dk1"/>
                </a:solidFill>
                <a:latin typeface="Arial"/>
                <a:ea typeface="Arial"/>
                <a:cs typeface="Arial"/>
                <a:sym typeface="Arial"/>
              </a:rPr>
              <a:t>Evaluation:  </a:t>
            </a:r>
            <a:r>
              <a:rPr lang="en-US" sz="1300">
                <a:solidFill>
                  <a:schemeClr val="dk1"/>
                </a:solidFill>
                <a:latin typeface="Arial"/>
                <a:ea typeface="Arial"/>
                <a:cs typeface="Arial"/>
                <a:sym typeface="Arial"/>
              </a:rPr>
              <a:t>AUROC, AUPRC, F1, MAE/RMSE, calibration, SHAP analysis.</a:t>
            </a:r>
            <a:endParaRPr sz="1300">
              <a:solidFill>
                <a:schemeClr val="dk1"/>
              </a:solidFill>
              <a:latin typeface="Arial"/>
              <a:ea typeface="Arial"/>
              <a:cs typeface="Arial"/>
              <a:sym typeface="Arial"/>
            </a:endParaRPr>
          </a:p>
          <a:p>
            <a:pPr indent="-196850" lvl="0" marL="228600" marR="0" rtl="0" algn="l">
              <a:lnSpc>
                <a:spcPct val="90000"/>
              </a:lnSpc>
              <a:spcBef>
                <a:spcPts val="1000"/>
              </a:spcBef>
              <a:spcAft>
                <a:spcPts val="0"/>
              </a:spcAft>
              <a:buClr>
                <a:schemeClr val="dk1"/>
              </a:buClr>
              <a:buSzPts val="1300"/>
              <a:buFont typeface="Arial"/>
              <a:buChar char="•"/>
            </a:pPr>
            <a:r>
              <a:rPr b="1" lang="en-US" sz="1300">
                <a:solidFill>
                  <a:schemeClr val="dk1"/>
                </a:solidFill>
                <a:latin typeface="Arial"/>
                <a:ea typeface="Arial"/>
                <a:cs typeface="Arial"/>
                <a:sym typeface="Arial"/>
              </a:rPr>
              <a:t>Comparative Analysis &amp; Visualization:  </a:t>
            </a:r>
            <a:r>
              <a:rPr lang="en-US" sz="1300">
                <a:solidFill>
                  <a:schemeClr val="dk1"/>
                </a:solidFill>
                <a:latin typeface="Arial"/>
                <a:ea typeface="Arial"/>
                <a:cs typeface="Arial"/>
                <a:sym typeface="Arial"/>
              </a:rPr>
              <a:t>Performance vs interpretability trade-offs.</a:t>
            </a:r>
            <a:endParaRPr sz="900"/>
          </a:p>
          <a:p>
            <a:pPr indent="0" lvl="0" marL="0" marR="0" rtl="0" algn="l">
              <a:lnSpc>
                <a:spcPct val="100000"/>
              </a:lnSpc>
              <a:spcBef>
                <a:spcPts val="0"/>
              </a:spcBef>
              <a:spcAft>
                <a:spcPts val="0"/>
              </a:spcAft>
              <a:buClr>
                <a:schemeClr val="dk1"/>
              </a:buClr>
              <a:buSzPts val="2000"/>
              <a:buFont typeface="Arial"/>
              <a:buNone/>
            </a:pPr>
            <a:r>
              <a:t/>
            </a:r>
            <a:endParaRPr b="0" i="0" sz="1500" u="none" cap="none" strike="noStrike">
              <a:solidFill>
                <a:schemeClr val="dk1"/>
              </a:solidFill>
              <a:latin typeface="Arial"/>
              <a:ea typeface="Arial"/>
              <a:cs typeface="Arial"/>
              <a:sym typeface="Arial"/>
            </a:endParaRPr>
          </a:p>
        </p:txBody>
      </p:sp>
      <p:cxnSp>
        <p:nvCxnSpPr>
          <p:cNvPr id="202" name="Google Shape;202;p12"/>
          <p:cNvCxnSpPr/>
          <p:nvPr/>
        </p:nvCxnSpPr>
        <p:spPr>
          <a:xfrm>
            <a:off x="-158040" y="541822"/>
            <a:ext cx="9302040" cy="36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203" name="Google Shape;203;p12"/>
          <p:cNvPicPr preferRelativeResize="0"/>
          <p:nvPr/>
        </p:nvPicPr>
        <p:blipFill rotWithShape="1">
          <a:blip r:embed="rId3">
            <a:alphaModFix/>
          </a:blip>
          <a:srcRect b="0" l="0" r="0" t="0"/>
          <a:stretch/>
        </p:blipFill>
        <p:spPr>
          <a:xfrm>
            <a:off x="149760" y="50070"/>
            <a:ext cx="1678675" cy="4917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627708" y="-164970"/>
            <a:ext cx="7730544" cy="708338"/>
          </a:xfrm>
          <a:prstGeom prst="rect">
            <a:avLst/>
          </a:prstGeom>
          <a:noFill/>
          <a:ln>
            <a:noFill/>
          </a:ln>
        </p:spPr>
        <p:txBody>
          <a:bodyPr anchorCtr="0" anchor="b" bIns="91425" lIns="91425" spcFirstLastPara="1" rIns="91425" wrap="square" tIns="91425">
            <a:noAutofit/>
          </a:bodyPr>
          <a:lstStyle/>
          <a:p>
            <a:pPr indent="0" lvl="0" marL="0" rtl="0" algn="r">
              <a:lnSpc>
                <a:spcPct val="90000"/>
              </a:lnSpc>
              <a:spcBef>
                <a:spcPts val="0"/>
              </a:spcBef>
              <a:spcAft>
                <a:spcPts val="0"/>
              </a:spcAft>
              <a:buClr>
                <a:schemeClr val="dk1"/>
              </a:buClr>
              <a:buSzPts val="2800"/>
              <a:buFont typeface="Arial"/>
              <a:buNone/>
            </a:pPr>
            <a:r>
              <a:rPr lang="en-US" sz="2800"/>
              <a:t>Progress</a:t>
            </a:r>
            <a:endParaRPr sz="2800"/>
          </a:p>
        </p:txBody>
      </p:sp>
      <p:cxnSp>
        <p:nvCxnSpPr>
          <p:cNvPr id="209" name="Google Shape;209;p13"/>
          <p:cNvCxnSpPr/>
          <p:nvPr/>
        </p:nvCxnSpPr>
        <p:spPr>
          <a:xfrm>
            <a:off x="0" y="543368"/>
            <a:ext cx="9144000" cy="0"/>
          </a:xfrm>
          <a:prstGeom prst="straightConnector1">
            <a:avLst/>
          </a:prstGeom>
          <a:noFill/>
          <a:ln cap="flat" cmpd="sng" w="9525">
            <a:solidFill>
              <a:srgbClr val="083C77"/>
            </a:solidFill>
            <a:prstDash val="solid"/>
            <a:round/>
            <a:headEnd len="sm" w="sm" type="none"/>
            <a:tailEnd len="sm" w="sm" type="none"/>
          </a:ln>
        </p:spPr>
      </p:cxnSp>
      <p:sp>
        <p:nvSpPr>
          <p:cNvPr id="210" name="Google Shape;210;p13"/>
          <p:cNvSpPr txBox="1"/>
          <p:nvPr/>
        </p:nvSpPr>
        <p:spPr>
          <a:xfrm>
            <a:off x="627708" y="543368"/>
            <a:ext cx="1043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Original:</a:t>
            </a:r>
            <a:endParaRPr sz="1800">
              <a:solidFill>
                <a:schemeClr val="dk1"/>
              </a:solidFill>
              <a:latin typeface="Arial"/>
              <a:ea typeface="Arial"/>
              <a:cs typeface="Arial"/>
              <a:sym typeface="Arial"/>
            </a:endParaRPr>
          </a:p>
        </p:txBody>
      </p:sp>
      <p:pic>
        <p:nvPicPr>
          <p:cNvPr id="211" name="Google Shape;211;p13"/>
          <p:cNvPicPr preferRelativeResize="0"/>
          <p:nvPr/>
        </p:nvPicPr>
        <p:blipFill rotWithShape="1">
          <a:blip r:embed="rId3">
            <a:alphaModFix/>
          </a:blip>
          <a:srcRect b="0" l="0" r="0" t="0"/>
          <a:stretch/>
        </p:blipFill>
        <p:spPr>
          <a:xfrm>
            <a:off x="559886" y="871529"/>
            <a:ext cx="5669876" cy="3219379"/>
          </a:xfrm>
          <a:prstGeom prst="rect">
            <a:avLst/>
          </a:prstGeom>
          <a:noFill/>
          <a:ln>
            <a:noFill/>
          </a:ln>
        </p:spPr>
      </p:pic>
      <p:sp>
        <p:nvSpPr>
          <p:cNvPr id="212" name="Google Shape;212;p13"/>
          <p:cNvSpPr txBox="1"/>
          <p:nvPr/>
        </p:nvSpPr>
        <p:spPr>
          <a:xfrm>
            <a:off x="389452" y="4090908"/>
            <a:ext cx="8754548"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In the original dataset sourced from PhysioNet there were 16 different .csv sheets and after several preprocessing steps like data cleaning, feature engineering, language conversion from Chinese to English using a translation model from Hugging face, etc we have a combined dataset that will now be separated into ML and DL specific dataset.</a:t>
            </a:r>
            <a:endParaRPr sz="16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ph type="title"/>
          </p:nvPr>
        </p:nvSpPr>
        <p:spPr>
          <a:xfrm>
            <a:off x="627708" y="-164970"/>
            <a:ext cx="7730544" cy="708338"/>
          </a:xfrm>
          <a:prstGeom prst="rect">
            <a:avLst/>
          </a:prstGeom>
          <a:noFill/>
          <a:ln>
            <a:noFill/>
          </a:ln>
        </p:spPr>
        <p:txBody>
          <a:bodyPr anchorCtr="0" anchor="b" bIns="91425" lIns="91425" spcFirstLastPara="1" rIns="91425" wrap="square" tIns="91425">
            <a:noAutofit/>
          </a:bodyPr>
          <a:lstStyle/>
          <a:p>
            <a:pPr indent="0" lvl="0" marL="0" rtl="0" algn="r">
              <a:lnSpc>
                <a:spcPct val="90000"/>
              </a:lnSpc>
              <a:spcBef>
                <a:spcPts val="0"/>
              </a:spcBef>
              <a:spcAft>
                <a:spcPts val="0"/>
              </a:spcAft>
              <a:buClr>
                <a:schemeClr val="dk1"/>
              </a:buClr>
              <a:buSzPts val="2800"/>
              <a:buFont typeface="Arial"/>
              <a:buNone/>
            </a:pPr>
            <a:r>
              <a:rPr lang="en-US" sz="2800"/>
              <a:t>Progress</a:t>
            </a:r>
            <a:endParaRPr sz="2800"/>
          </a:p>
        </p:txBody>
      </p:sp>
      <p:cxnSp>
        <p:nvCxnSpPr>
          <p:cNvPr id="218" name="Google Shape;218;p14"/>
          <p:cNvCxnSpPr/>
          <p:nvPr/>
        </p:nvCxnSpPr>
        <p:spPr>
          <a:xfrm>
            <a:off x="0" y="543368"/>
            <a:ext cx="9144000" cy="0"/>
          </a:xfrm>
          <a:prstGeom prst="straightConnector1">
            <a:avLst/>
          </a:prstGeom>
          <a:noFill/>
          <a:ln cap="flat" cmpd="sng" w="9525">
            <a:solidFill>
              <a:srgbClr val="083C77"/>
            </a:solidFill>
            <a:prstDash val="solid"/>
            <a:round/>
            <a:headEnd len="sm" w="sm" type="none"/>
            <a:tailEnd len="sm" w="sm" type="none"/>
          </a:ln>
        </p:spPr>
      </p:cxnSp>
      <p:sp>
        <p:nvSpPr>
          <p:cNvPr id="219" name="Google Shape;219;p14"/>
          <p:cNvSpPr txBox="1"/>
          <p:nvPr/>
        </p:nvSpPr>
        <p:spPr>
          <a:xfrm>
            <a:off x="627695" y="618750"/>
            <a:ext cx="283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Dataset v1 snapshot</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pic>
        <p:nvPicPr>
          <p:cNvPr id="220" name="Google Shape;220;p14"/>
          <p:cNvPicPr preferRelativeResize="0"/>
          <p:nvPr/>
        </p:nvPicPr>
        <p:blipFill>
          <a:blip r:embed="rId3">
            <a:alphaModFix/>
          </a:blip>
          <a:stretch>
            <a:fillRect/>
          </a:stretch>
        </p:blipFill>
        <p:spPr>
          <a:xfrm>
            <a:off x="627700" y="1037996"/>
            <a:ext cx="8405701" cy="38506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de4778b375_0_7"/>
          <p:cNvSpPr txBox="1"/>
          <p:nvPr>
            <p:ph type="title"/>
          </p:nvPr>
        </p:nvSpPr>
        <p:spPr>
          <a:xfrm>
            <a:off x="228600" y="-374046"/>
            <a:ext cx="8686500" cy="10473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600"/>
              <a:buFont typeface="Arial"/>
              <a:buNone/>
            </a:pPr>
            <a:r>
              <a:rPr lang="en-US" sz="3600"/>
              <a:t>Results</a:t>
            </a:r>
            <a:endParaRPr b="0" sz="3500" u="none" strike="noStrike">
              <a:solidFill>
                <a:schemeClr val="dk1"/>
              </a:solidFill>
              <a:latin typeface="Arial"/>
              <a:ea typeface="Arial"/>
              <a:cs typeface="Arial"/>
              <a:sym typeface="Arial"/>
            </a:endParaRPr>
          </a:p>
        </p:txBody>
      </p:sp>
      <p:cxnSp>
        <p:nvCxnSpPr>
          <p:cNvPr id="226" name="Google Shape;226;g3de4778b375_0_7"/>
          <p:cNvCxnSpPr/>
          <p:nvPr/>
        </p:nvCxnSpPr>
        <p:spPr>
          <a:xfrm>
            <a:off x="-158040" y="541822"/>
            <a:ext cx="9302100" cy="30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227" name="Google Shape;227;g3de4778b375_0_7"/>
          <p:cNvPicPr preferRelativeResize="0"/>
          <p:nvPr/>
        </p:nvPicPr>
        <p:blipFill rotWithShape="1">
          <a:blip r:embed="rId3">
            <a:alphaModFix/>
          </a:blip>
          <a:srcRect b="0" l="0" r="0" t="0"/>
          <a:stretch/>
        </p:blipFill>
        <p:spPr>
          <a:xfrm>
            <a:off x="149760" y="50070"/>
            <a:ext cx="1678675" cy="491752"/>
          </a:xfrm>
          <a:prstGeom prst="rect">
            <a:avLst/>
          </a:prstGeom>
          <a:noFill/>
          <a:ln>
            <a:noFill/>
          </a:ln>
        </p:spPr>
      </p:pic>
      <p:pic>
        <p:nvPicPr>
          <p:cNvPr id="228" name="Google Shape;228;g3de4778b375_0_7"/>
          <p:cNvPicPr preferRelativeResize="0"/>
          <p:nvPr/>
        </p:nvPicPr>
        <p:blipFill>
          <a:blip r:embed="rId4">
            <a:alphaModFix/>
          </a:blip>
          <a:stretch>
            <a:fillRect/>
          </a:stretch>
        </p:blipFill>
        <p:spPr>
          <a:xfrm>
            <a:off x="1400850" y="605475"/>
            <a:ext cx="6342001" cy="44914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d5a750699b_0_2"/>
          <p:cNvSpPr txBox="1"/>
          <p:nvPr>
            <p:ph type="title"/>
          </p:nvPr>
        </p:nvSpPr>
        <p:spPr>
          <a:xfrm>
            <a:off x="228600" y="-374046"/>
            <a:ext cx="8686500" cy="10473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600"/>
              <a:buFont typeface="Arial"/>
              <a:buNone/>
            </a:pPr>
            <a:r>
              <a:rPr lang="en-US" sz="3600"/>
              <a:t>Results</a:t>
            </a:r>
            <a:endParaRPr b="0" sz="3500" u="none" strike="noStrike">
              <a:solidFill>
                <a:schemeClr val="dk1"/>
              </a:solidFill>
              <a:latin typeface="Arial"/>
              <a:ea typeface="Arial"/>
              <a:cs typeface="Arial"/>
              <a:sym typeface="Arial"/>
            </a:endParaRPr>
          </a:p>
        </p:txBody>
      </p:sp>
      <p:cxnSp>
        <p:nvCxnSpPr>
          <p:cNvPr id="234" name="Google Shape;234;g3d5a750699b_0_2"/>
          <p:cNvCxnSpPr/>
          <p:nvPr/>
        </p:nvCxnSpPr>
        <p:spPr>
          <a:xfrm>
            <a:off x="-158040" y="541822"/>
            <a:ext cx="9302100" cy="300"/>
          </a:xfrm>
          <a:prstGeom prst="straightConnector1">
            <a:avLst/>
          </a:prstGeom>
          <a:noFill/>
          <a:ln cap="flat" cmpd="sng" w="9525">
            <a:solidFill>
              <a:srgbClr val="083C77"/>
            </a:solidFill>
            <a:prstDash val="solid"/>
            <a:round/>
            <a:headEnd len="sm" w="sm" type="none"/>
            <a:tailEnd len="sm" w="sm" type="none"/>
          </a:ln>
        </p:spPr>
      </p:cxnSp>
      <p:pic>
        <p:nvPicPr>
          <p:cNvPr descr="A black and white text&#10;&#10;AI-generated content may be incorrect." id="235" name="Google Shape;235;g3d5a750699b_0_2"/>
          <p:cNvPicPr preferRelativeResize="0"/>
          <p:nvPr/>
        </p:nvPicPr>
        <p:blipFill rotWithShape="1">
          <a:blip r:embed="rId3">
            <a:alphaModFix/>
          </a:blip>
          <a:srcRect b="0" l="0" r="0" t="0"/>
          <a:stretch/>
        </p:blipFill>
        <p:spPr>
          <a:xfrm>
            <a:off x="149760" y="50070"/>
            <a:ext cx="1678675" cy="491752"/>
          </a:xfrm>
          <a:prstGeom prst="rect">
            <a:avLst/>
          </a:prstGeom>
          <a:noFill/>
          <a:ln>
            <a:noFill/>
          </a:ln>
        </p:spPr>
      </p:pic>
      <p:pic>
        <p:nvPicPr>
          <p:cNvPr id="236" name="Google Shape;236;g3d5a750699b_0_2"/>
          <p:cNvPicPr preferRelativeResize="0"/>
          <p:nvPr/>
        </p:nvPicPr>
        <p:blipFill>
          <a:blip r:embed="rId4">
            <a:alphaModFix/>
          </a:blip>
          <a:stretch>
            <a:fillRect/>
          </a:stretch>
        </p:blipFill>
        <p:spPr>
          <a:xfrm>
            <a:off x="1318525" y="604600"/>
            <a:ext cx="6506651" cy="43195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txBox="1"/>
          <p:nvPr>
            <p:ph type="title"/>
          </p:nvPr>
        </p:nvSpPr>
        <p:spPr>
          <a:xfrm>
            <a:off x="275150" y="-336350"/>
            <a:ext cx="8686500" cy="10473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Arial"/>
              <a:buNone/>
            </a:pPr>
            <a:r>
              <a:rPr b="0" lang="en-US" sz="3500" u="none" strike="noStrike">
                <a:solidFill>
                  <a:schemeClr val="dk1"/>
                </a:solidFill>
                <a:latin typeface="Arial"/>
                <a:ea typeface="Arial"/>
                <a:cs typeface="Arial"/>
                <a:sym typeface="Arial"/>
              </a:rPr>
              <a:t>References</a:t>
            </a:r>
            <a:endParaRPr/>
          </a:p>
        </p:txBody>
      </p:sp>
      <p:cxnSp>
        <p:nvCxnSpPr>
          <p:cNvPr id="243" name="Google Shape;243;p16"/>
          <p:cNvCxnSpPr/>
          <p:nvPr/>
        </p:nvCxnSpPr>
        <p:spPr>
          <a:xfrm>
            <a:off x="5" y="659570"/>
            <a:ext cx="9302100" cy="300"/>
          </a:xfrm>
          <a:prstGeom prst="straightConnector1">
            <a:avLst/>
          </a:prstGeom>
          <a:noFill/>
          <a:ln cap="flat" cmpd="sng" w="9525">
            <a:solidFill>
              <a:srgbClr val="083C77"/>
            </a:solidFill>
            <a:prstDash val="solid"/>
            <a:round/>
            <a:headEnd len="sm" w="sm" type="none"/>
            <a:tailEnd len="sm" w="sm" type="none"/>
          </a:ln>
        </p:spPr>
      </p:cxnSp>
      <p:sp>
        <p:nvSpPr>
          <p:cNvPr id="244" name="Google Shape;244;p16"/>
          <p:cNvSpPr txBox="1"/>
          <p:nvPr>
            <p:ph idx="1" type="subTitle"/>
          </p:nvPr>
        </p:nvSpPr>
        <p:spPr>
          <a:xfrm>
            <a:off x="29650" y="1284525"/>
            <a:ext cx="7911000" cy="3473400"/>
          </a:xfrm>
          <a:prstGeom prst="rect">
            <a:avLst/>
          </a:prstGeom>
          <a:noFill/>
          <a:ln>
            <a:noFill/>
          </a:ln>
        </p:spPr>
        <p:txBody>
          <a:bodyPr anchorCtr="0" anchor="ctr"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 </a:t>
            </a:r>
            <a:r>
              <a:rPr lang="en-US" sz="900">
                <a:solidFill>
                  <a:schemeClr val="dk1"/>
                </a:solidFill>
                <a:latin typeface="Arial"/>
                <a:ea typeface="Arial"/>
                <a:cs typeface="Arial"/>
                <a:sym typeface="Arial"/>
              </a:rPr>
              <a:t>Zeng, X., Yu, G., Lu, Y. </a:t>
            </a:r>
            <a:r>
              <a:rPr i="1" lang="en-US" sz="900">
                <a:solidFill>
                  <a:schemeClr val="dk1"/>
                </a:solidFill>
                <a:latin typeface="Arial"/>
                <a:ea typeface="Arial"/>
                <a:cs typeface="Arial"/>
                <a:sym typeface="Arial"/>
              </a:rPr>
              <a:t>et al.</a:t>
            </a:r>
            <a:r>
              <a:rPr lang="en-US" sz="900">
                <a:solidFill>
                  <a:schemeClr val="dk1"/>
                </a:solidFill>
                <a:latin typeface="Arial"/>
                <a:ea typeface="Arial"/>
                <a:cs typeface="Arial"/>
                <a:sym typeface="Arial"/>
              </a:rPr>
              <a:t> PIC, a paediatric-specific intensive care database. </a:t>
            </a:r>
            <a:r>
              <a:rPr i="1" lang="en-US" sz="900">
                <a:solidFill>
                  <a:schemeClr val="dk1"/>
                </a:solidFill>
                <a:latin typeface="Arial"/>
                <a:ea typeface="Arial"/>
                <a:cs typeface="Arial"/>
                <a:sym typeface="Arial"/>
              </a:rPr>
              <a:t>Sci Data</a:t>
            </a:r>
            <a:r>
              <a:rPr lang="en-US" sz="900">
                <a:solidFill>
                  <a:schemeClr val="dk1"/>
                </a:solidFill>
                <a:latin typeface="Arial"/>
                <a:ea typeface="Arial"/>
                <a:cs typeface="Arial"/>
                <a:sym typeface="Arial"/>
              </a:rPr>
              <a:t> </a:t>
            </a:r>
            <a:r>
              <a:rPr b="1" lang="en-US" sz="900">
                <a:solidFill>
                  <a:schemeClr val="dk1"/>
                </a:solidFill>
                <a:latin typeface="Arial"/>
                <a:ea typeface="Arial"/>
                <a:cs typeface="Arial"/>
                <a:sym typeface="Arial"/>
              </a:rPr>
              <a:t>7</a:t>
            </a:r>
            <a:r>
              <a:rPr lang="en-US" sz="900">
                <a:solidFill>
                  <a:schemeClr val="dk1"/>
                </a:solidFill>
                <a:latin typeface="Arial"/>
                <a:ea typeface="Arial"/>
                <a:cs typeface="Arial"/>
                <a:sym typeface="Arial"/>
              </a:rPr>
              <a:t>, 14 (2020). </a:t>
            </a:r>
            <a:r>
              <a:rPr lang="en-US" sz="900" u="sng">
                <a:solidFill>
                  <a:schemeClr val="dk1"/>
                </a:solidFill>
                <a:latin typeface="Arial"/>
                <a:ea typeface="Arial"/>
                <a:cs typeface="Arial"/>
                <a:sym typeface="Arial"/>
                <a:hlinkClick r:id="rId3">
                  <a:extLst>
                    <a:ext uri="{A12FA001-AC4F-418D-AE19-62706E023703}">
                      <ahyp:hlinkClr val="tx"/>
                    </a:ext>
                  </a:extLst>
                </a:hlinkClick>
              </a:rPr>
              <a:t>https://doi.org/10.1038/s41597-020-0355-4</a:t>
            </a:r>
            <a:endParaRPr b="0" i="0" sz="900" u="none" cap="none" strike="noStrike">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 </a:t>
            </a:r>
            <a:r>
              <a:rPr lang="en-US" sz="900">
                <a:solidFill>
                  <a:schemeClr val="dk1"/>
                </a:solidFill>
                <a:latin typeface="Arial"/>
                <a:ea typeface="Arial"/>
                <a:cs typeface="Arial"/>
                <a:sym typeface="Arial"/>
              </a:rPr>
              <a:t>Kim SY, Kim S, Cho J, Kim YS, Sol IS, Sung Y, Cho I, Park M, Jang H, Kim YH, Kim KW, Sohn MH. A deep learning model for real-time mortality prediction in critically ill children. Crit Care. 2019 Aug 14;23(1):279. doi: 10.1186/s13054-019-2561-z. PMID: 31412949; PMCID: PMC6694497.</a:t>
            </a:r>
            <a:endParaRPr b="0" i="0" sz="900" u="none" cap="none" strike="noStrike">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 </a:t>
            </a:r>
            <a:r>
              <a:rPr lang="en-US" sz="900">
                <a:solidFill>
                  <a:schemeClr val="dk1"/>
                </a:solidFill>
                <a:latin typeface="Arial"/>
                <a:ea typeface="Arial"/>
                <a:cs typeface="Arial"/>
                <a:sym typeface="Arial"/>
              </a:rPr>
              <a:t>Patel AK, Trujillo-Rivera E, Morizono H and Pollack MM (2022) The criticality Indexmortality: A dynamic machine learning prediction algorithm for mortality prediction in children cared for in an ICU. Front. Pediatr. 10:1023539. doi: 10.3389/fped.2022.1023539</a:t>
            </a:r>
            <a:endParaRPr b="0" i="0" sz="900" u="none" cap="none" strike="noStrike">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 </a:t>
            </a:r>
            <a:r>
              <a:rPr lang="en-US" sz="900">
                <a:solidFill>
                  <a:schemeClr val="dk1"/>
                </a:solidFill>
                <a:latin typeface="Arial"/>
                <a:ea typeface="Arial"/>
                <a:cs typeface="Arial"/>
                <a:sym typeface="Arial"/>
              </a:rPr>
              <a:t>Lee, B., Kim, K., Hwang, H. </a:t>
            </a:r>
            <a:r>
              <a:rPr i="1" lang="en-US" sz="900">
                <a:solidFill>
                  <a:schemeClr val="dk1"/>
                </a:solidFill>
                <a:latin typeface="Arial"/>
                <a:ea typeface="Arial"/>
                <a:cs typeface="Arial"/>
                <a:sym typeface="Arial"/>
              </a:rPr>
              <a:t>et al.</a:t>
            </a:r>
            <a:r>
              <a:rPr lang="en-US" sz="900">
                <a:solidFill>
                  <a:schemeClr val="dk1"/>
                </a:solidFill>
                <a:latin typeface="Arial"/>
                <a:ea typeface="Arial"/>
                <a:cs typeface="Arial"/>
                <a:sym typeface="Arial"/>
              </a:rPr>
              <a:t> Development of a machine learning model for predicting pediatric mortality in the early stages of intensive care unit admission. </a:t>
            </a:r>
            <a:r>
              <a:rPr i="1" lang="en-US" sz="900">
                <a:solidFill>
                  <a:schemeClr val="dk1"/>
                </a:solidFill>
                <a:latin typeface="Arial"/>
                <a:ea typeface="Arial"/>
                <a:cs typeface="Arial"/>
                <a:sym typeface="Arial"/>
              </a:rPr>
              <a:t>Sci Rep</a:t>
            </a:r>
            <a:r>
              <a:rPr lang="en-US" sz="900">
                <a:solidFill>
                  <a:schemeClr val="dk1"/>
                </a:solidFill>
                <a:latin typeface="Arial"/>
                <a:ea typeface="Arial"/>
                <a:cs typeface="Arial"/>
                <a:sym typeface="Arial"/>
              </a:rPr>
              <a:t> </a:t>
            </a:r>
            <a:r>
              <a:rPr b="1" lang="en-US" sz="900">
                <a:solidFill>
                  <a:schemeClr val="dk1"/>
                </a:solidFill>
                <a:latin typeface="Arial"/>
                <a:ea typeface="Arial"/>
                <a:cs typeface="Arial"/>
                <a:sym typeface="Arial"/>
              </a:rPr>
              <a:t>11</a:t>
            </a:r>
            <a:r>
              <a:rPr lang="en-US" sz="900">
                <a:solidFill>
                  <a:schemeClr val="dk1"/>
                </a:solidFill>
                <a:latin typeface="Arial"/>
                <a:ea typeface="Arial"/>
                <a:cs typeface="Arial"/>
                <a:sym typeface="Arial"/>
              </a:rPr>
              <a:t>, 1263 (2021). </a:t>
            </a:r>
            <a:r>
              <a:rPr lang="en-US" sz="900" u="sng">
                <a:solidFill>
                  <a:schemeClr val="dk1"/>
                </a:solidFill>
                <a:latin typeface="Arial"/>
                <a:ea typeface="Arial"/>
                <a:cs typeface="Arial"/>
                <a:sym typeface="Arial"/>
                <a:hlinkClick r:id="rId4">
                  <a:extLst>
                    <a:ext uri="{A12FA001-AC4F-418D-AE19-62706E023703}">
                      <ahyp:hlinkClr val="tx"/>
                    </a:ext>
                  </a:extLst>
                </a:hlinkClick>
              </a:rPr>
              <a:t>https://doi.org/10.1038/s41598-020-80474-z</a:t>
            </a:r>
            <a:endParaRPr sz="900">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lang="en-US" sz="900">
                <a:solidFill>
                  <a:schemeClr val="dk1"/>
                </a:solidFill>
                <a:latin typeface="Arial"/>
                <a:ea typeface="Arial"/>
                <a:cs typeface="Arial"/>
                <a:sym typeface="Arial"/>
              </a:rPr>
              <a:t>Prithula, J., Chowdhury, M.E.H., Khan, M.S. </a:t>
            </a:r>
            <a:r>
              <a:rPr i="1" lang="en-US" sz="900">
                <a:solidFill>
                  <a:schemeClr val="dk1"/>
                </a:solidFill>
                <a:latin typeface="Arial"/>
                <a:ea typeface="Arial"/>
                <a:cs typeface="Arial"/>
                <a:sym typeface="Arial"/>
              </a:rPr>
              <a:t>et al.</a:t>
            </a:r>
            <a:r>
              <a:rPr lang="en-US" sz="900">
                <a:solidFill>
                  <a:schemeClr val="dk1"/>
                </a:solidFill>
                <a:latin typeface="Arial"/>
                <a:ea typeface="Arial"/>
                <a:cs typeface="Arial"/>
                <a:sym typeface="Arial"/>
              </a:rPr>
              <a:t> Improved pediatric ICU mortality prediction for respiratory diseases: machine learning and data subdivision insights. </a:t>
            </a:r>
            <a:r>
              <a:rPr i="1" lang="en-US" sz="900">
                <a:solidFill>
                  <a:schemeClr val="dk1"/>
                </a:solidFill>
                <a:latin typeface="Arial"/>
                <a:ea typeface="Arial"/>
                <a:cs typeface="Arial"/>
                <a:sym typeface="Arial"/>
              </a:rPr>
              <a:t>Respir Res</a:t>
            </a:r>
            <a:r>
              <a:rPr lang="en-US" sz="900">
                <a:solidFill>
                  <a:schemeClr val="dk1"/>
                </a:solidFill>
                <a:latin typeface="Arial"/>
                <a:ea typeface="Arial"/>
                <a:cs typeface="Arial"/>
                <a:sym typeface="Arial"/>
              </a:rPr>
              <a:t> </a:t>
            </a:r>
            <a:r>
              <a:rPr b="1" lang="en-US" sz="900">
                <a:solidFill>
                  <a:schemeClr val="dk1"/>
                </a:solidFill>
                <a:latin typeface="Arial"/>
                <a:ea typeface="Arial"/>
                <a:cs typeface="Arial"/>
                <a:sym typeface="Arial"/>
              </a:rPr>
              <a:t>25</a:t>
            </a:r>
            <a:r>
              <a:rPr lang="en-US" sz="900">
                <a:solidFill>
                  <a:schemeClr val="dk1"/>
                </a:solidFill>
                <a:latin typeface="Arial"/>
                <a:ea typeface="Arial"/>
                <a:cs typeface="Arial"/>
                <a:sym typeface="Arial"/>
              </a:rPr>
              <a:t>, 216 (2024). </a:t>
            </a:r>
            <a:r>
              <a:rPr lang="en-US" sz="900" u="sng">
                <a:solidFill>
                  <a:schemeClr val="dk1"/>
                </a:solidFill>
                <a:latin typeface="Arial"/>
                <a:ea typeface="Arial"/>
                <a:cs typeface="Arial"/>
                <a:sym typeface="Arial"/>
                <a:hlinkClick r:id="rId5">
                  <a:extLst>
                    <a:ext uri="{A12FA001-AC4F-418D-AE19-62706E023703}">
                      <ahyp:hlinkClr val="tx"/>
                    </a:ext>
                  </a:extLst>
                </a:hlinkClick>
              </a:rPr>
              <a:t>https://doi.org/10.1186/s12931-024-02753-x</a:t>
            </a:r>
            <a:endParaRPr sz="900">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lang="en-US" sz="900">
                <a:solidFill>
                  <a:schemeClr val="dk1"/>
                </a:solidFill>
                <a:latin typeface="Arial"/>
                <a:ea typeface="Arial"/>
                <a:cs typeface="Arial"/>
                <a:sym typeface="Arial"/>
              </a:rPr>
              <a:t>Razo M, Pishgar M, Galanter W, Darabi H. Deep-Learning Model for Mortality Prediction of ICU Patients with Paralytic Ileus. Bioengineering (Basel). 2024 Nov 30;11(12):1214. doi: 10.3390/bioengineering11121214. PMID: 39768031; PMCID: PMC11673219</a:t>
            </a:r>
            <a:r>
              <a:rPr lang="en-US" sz="900">
                <a:solidFill>
                  <a:schemeClr val="dk1"/>
                </a:solidFill>
              </a:rPr>
              <a:t>.</a:t>
            </a:r>
            <a:endParaRPr sz="900">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lang="en-US" sz="900">
                <a:solidFill>
                  <a:schemeClr val="dk1"/>
                </a:solidFill>
                <a:latin typeface="Arial"/>
                <a:ea typeface="Arial"/>
                <a:cs typeface="Arial"/>
                <a:sym typeface="Arial"/>
              </a:rPr>
              <a:t>Das S, Erdman L, Brals D, Boczek B, Hasan SMT, Massara P, Alam MA, Fahim SM, Mahfuz M, Hoogendoorn M, Zuiderent-Jerak T, Bandsma RHJ, Ahmed T, Voskuijl W. Development of machine learning models predicting mortality using routinely collected observational health data from 0-59 months old children admitted to an intensive care unit in Bangladesh: critical role of biochemistry and haematology data. BMJ Paediatr Open. 2024 Jul 22;8(1):e002365. doi: 10.1136/bmjpo-2023-002365. PMID: 39038911; PMCID: PMC11409392.</a:t>
            </a:r>
            <a:endParaRPr sz="900">
              <a:solidFill>
                <a:schemeClr val="dk1"/>
              </a:solidFill>
              <a:latin typeface="Arial"/>
              <a:ea typeface="Arial"/>
              <a:cs typeface="Arial"/>
              <a:sym typeface="Arial"/>
            </a:endParaRPr>
          </a:p>
          <a:p>
            <a:pPr indent="-228600" lvl="0" marL="228600" marR="0" rtl="0" algn="l">
              <a:lnSpc>
                <a:spcPct val="100000"/>
              </a:lnSpc>
              <a:spcBef>
                <a:spcPts val="1000"/>
              </a:spcBef>
              <a:spcAft>
                <a:spcPts val="0"/>
              </a:spcAft>
              <a:buClr>
                <a:schemeClr val="dk1"/>
              </a:buClr>
              <a:buSzPts val="900"/>
              <a:buFont typeface="Arial"/>
              <a:buChar char="•"/>
            </a:pPr>
            <a:r>
              <a:rPr lang="en-US" sz="900" u="sng">
                <a:solidFill>
                  <a:schemeClr val="dk1"/>
                </a:solidFill>
                <a:latin typeface="Arial"/>
                <a:ea typeface="Arial"/>
                <a:cs typeface="Arial"/>
                <a:sym typeface="Arial"/>
                <a:hlinkClick r:id="rId6">
                  <a:extLst>
                    <a:ext uri="{A12FA001-AC4F-418D-AE19-62706E023703}">
                      <ahyp:hlinkClr val="tx"/>
                    </a:ext>
                  </a:extLst>
                </a:hlinkClick>
              </a:rPr>
              <a:t>Grinsztajn et al. — Why do tree-based models still outperform deep learning on tabular data? (NeurIPS 2022). arXiv</a:t>
            </a:r>
            <a:endParaRPr sz="900" u="sng">
              <a:solidFill>
                <a:srgbClr val="0563C1"/>
              </a:solidFill>
              <a:latin typeface="Calibri"/>
              <a:ea typeface="Calibri"/>
              <a:cs typeface="Calibri"/>
              <a:sym typeface="Calibri"/>
            </a:endParaRPr>
          </a:p>
          <a:p>
            <a:pPr indent="-171450" lvl="0" marL="228600" marR="0" rtl="0" algn="l">
              <a:lnSpc>
                <a:spcPct val="100000"/>
              </a:lnSpc>
              <a:spcBef>
                <a:spcPts val="100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pic>
        <p:nvPicPr>
          <p:cNvPr descr="A black and white text&#10;&#10;AI-generated content may be incorrect." id="245" name="Google Shape;245;p16"/>
          <p:cNvPicPr preferRelativeResize="0"/>
          <p:nvPr/>
        </p:nvPicPr>
        <p:blipFill rotWithShape="1">
          <a:blip r:embed="rId7">
            <a:alphaModFix/>
          </a:blip>
          <a:srcRect b="0" l="0" r="0" t="0"/>
          <a:stretch/>
        </p:blipFill>
        <p:spPr>
          <a:xfrm>
            <a:off x="109182" y="33604"/>
            <a:ext cx="1678675" cy="49175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ph type="title"/>
          </p:nvPr>
        </p:nvSpPr>
        <p:spPr>
          <a:xfrm>
            <a:off x="228600" y="228600"/>
            <a:ext cx="8686440" cy="104724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3500"/>
              <a:buFont typeface="Arial"/>
              <a:buNone/>
            </a:pPr>
            <a:r>
              <a:rPr b="0" lang="en-US" sz="3500" u="none" strike="noStrike">
                <a:solidFill>
                  <a:schemeClr val="dk1"/>
                </a:solidFill>
                <a:latin typeface="Arial"/>
                <a:ea typeface="Arial"/>
                <a:cs typeface="Arial"/>
                <a:sym typeface="Arial"/>
              </a:rPr>
              <a:t>References</a:t>
            </a:r>
            <a:endParaRPr/>
          </a:p>
        </p:txBody>
      </p:sp>
      <p:cxnSp>
        <p:nvCxnSpPr>
          <p:cNvPr id="252" name="Google Shape;252;p17"/>
          <p:cNvCxnSpPr/>
          <p:nvPr/>
        </p:nvCxnSpPr>
        <p:spPr>
          <a:xfrm>
            <a:off x="-76320" y="1494720"/>
            <a:ext cx="9302040" cy="360"/>
          </a:xfrm>
          <a:prstGeom prst="straightConnector1">
            <a:avLst/>
          </a:prstGeom>
          <a:noFill/>
          <a:ln cap="flat" cmpd="sng" w="9525">
            <a:solidFill>
              <a:srgbClr val="083C77"/>
            </a:solidFill>
            <a:prstDash val="solid"/>
            <a:round/>
            <a:headEnd len="sm" w="sm" type="none"/>
            <a:tailEnd len="sm" w="sm" type="none"/>
          </a:ln>
        </p:spPr>
      </p:cxnSp>
      <p:sp>
        <p:nvSpPr>
          <p:cNvPr id="253" name="Google Shape;253;p17"/>
          <p:cNvSpPr txBox="1"/>
          <p:nvPr>
            <p:ph idx="1" type="subTitle"/>
          </p:nvPr>
        </p:nvSpPr>
        <p:spPr>
          <a:xfrm>
            <a:off x="109182" y="3076699"/>
            <a:ext cx="8795370" cy="553998"/>
          </a:xfrm>
          <a:prstGeom prst="rect">
            <a:avLst/>
          </a:prstGeom>
          <a:noFill/>
          <a:ln>
            <a:noFill/>
          </a:ln>
        </p:spPr>
        <p:txBody>
          <a:bodyPr anchorCtr="0" anchor="ctr" bIns="45700" lIns="91425" spcFirstLastPara="1" rIns="91425" wrap="square" tIns="45700">
            <a:spAutoFit/>
          </a:bodyPr>
          <a:lstStyle/>
          <a:p>
            <a:pPr indent="-165100" lvl="0" marL="228600" marR="0" rtl="0" algn="l">
              <a:lnSpc>
                <a:spcPct val="100000"/>
              </a:lnSpc>
              <a:spcBef>
                <a:spcPts val="0"/>
              </a:spcBef>
              <a:spcAft>
                <a:spcPts val="0"/>
              </a:spcAft>
              <a:buClr>
                <a:schemeClr val="dk1"/>
              </a:buClr>
              <a:buSzPts val="1000"/>
              <a:buFont typeface="Arial"/>
              <a:buNone/>
            </a:pPr>
            <a:r>
              <a:t/>
            </a:r>
            <a:endParaRPr sz="1000" u="sng">
              <a:solidFill>
                <a:srgbClr val="0563C1"/>
              </a:solidFill>
              <a:latin typeface="Calibri"/>
              <a:ea typeface="Calibri"/>
              <a:cs typeface="Calibri"/>
              <a:sym typeface="Calibri"/>
            </a:endParaRPr>
          </a:p>
          <a:p>
            <a:pPr indent="-165100" lvl="0" marL="228600" marR="0" rtl="0" algn="l">
              <a:lnSpc>
                <a:spcPct val="100000"/>
              </a:lnSpc>
              <a:spcBef>
                <a:spcPts val="1000"/>
              </a:spcBef>
              <a:spcAft>
                <a:spcPts val="0"/>
              </a:spcAft>
              <a:buClr>
                <a:schemeClr val="dk1"/>
              </a:buClr>
              <a:buSzPts val="1000"/>
              <a:buFont typeface="Arial"/>
              <a:buNone/>
            </a:pPr>
            <a:r>
              <a:t/>
            </a:r>
            <a:endParaRPr sz="1000" u="sng">
              <a:solidFill>
                <a:srgbClr val="0563C1"/>
              </a:solidFill>
              <a:latin typeface="Calibri"/>
              <a:ea typeface="Calibri"/>
              <a:cs typeface="Calibri"/>
              <a:sym typeface="Calibri"/>
            </a:endParaRPr>
          </a:p>
          <a:p>
            <a:pPr indent="-165100" lvl="0" marL="228600" marR="0" rtl="0" algn="l">
              <a:lnSpc>
                <a:spcPct val="100000"/>
              </a:lnSpc>
              <a:spcBef>
                <a:spcPts val="1000"/>
              </a:spcBef>
              <a:spcAft>
                <a:spcPts val="0"/>
              </a:spcAft>
              <a:buClr>
                <a:schemeClr val="dk1"/>
              </a:buClr>
              <a:buSzPts val="1000"/>
              <a:buFont typeface="Arial"/>
              <a:buNone/>
            </a:pPr>
            <a:r>
              <a:t/>
            </a:r>
            <a:endParaRPr sz="1000">
              <a:solidFill>
                <a:schemeClr val="dk1"/>
              </a:solidFill>
              <a:latin typeface="Arial"/>
              <a:ea typeface="Arial"/>
              <a:cs typeface="Arial"/>
              <a:sym typeface="Arial"/>
            </a:endParaRPr>
          </a:p>
        </p:txBody>
      </p:sp>
      <p:pic>
        <p:nvPicPr>
          <p:cNvPr descr="A black and white text&#10;&#10;AI-generated content may be incorrect." id="254" name="Google Shape;254;p17"/>
          <p:cNvPicPr preferRelativeResize="0"/>
          <p:nvPr/>
        </p:nvPicPr>
        <p:blipFill rotWithShape="1">
          <a:blip r:embed="rId3">
            <a:alphaModFix/>
          </a:blip>
          <a:srcRect b="0" l="0" r="0" t="0"/>
          <a:stretch/>
        </p:blipFill>
        <p:spPr>
          <a:xfrm>
            <a:off x="109182" y="33604"/>
            <a:ext cx="1678675" cy="491752"/>
          </a:xfrm>
          <a:prstGeom prst="rect">
            <a:avLst/>
          </a:prstGeom>
          <a:noFill/>
          <a:ln>
            <a:noFill/>
          </a:ln>
        </p:spPr>
      </p:pic>
      <p:sp>
        <p:nvSpPr>
          <p:cNvPr id="255" name="Google Shape;255;p17"/>
          <p:cNvSpPr txBox="1"/>
          <p:nvPr/>
        </p:nvSpPr>
        <p:spPr>
          <a:xfrm>
            <a:off x="109182" y="2041723"/>
            <a:ext cx="8609527" cy="3000821"/>
          </a:xfrm>
          <a:prstGeom prst="rect">
            <a:avLst/>
          </a:prstGeom>
          <a:noFill/>
          <a:ln>
            <a:noFill/>
          </a:ln>
        </p:spPr>
        <p:txBody>
          <a:bodyPr anchorCtr="0" anchor="ctr" bIns="45700" lIns="91425" spcFirstLastPara="1" rIns="91425" wrap="square" tIns="45700">
            <a:spAutoFit/>
          </a:bodyPr>
          <a:lstStyle/>
          <a:p>
            <a:pPr indent="-57150" lvl="0" marL="0" marR="0" rtl="0" algn="l">
              <a:lnSpc>
                <a:spcPct val="100000"/>
              </a:lnSpc>
              <a:spcBef>
                <a:spcPts val="0"/>
              </a:spcBef>
              <a:spcAft>
                <a:spcPts val="0"/>
              </a:spcAft>
              <a:buClr>
                <a:schemeClr val="dk1"/>
              </a:buClr>
              <a:buSzPts val="900"/>
              <a:buFont typeface="Arial"/>
              <a:buChar char="•"/>
            </a:pPr>
            <a:r>
              <a:rPr lang="en-US" sz="900">
                <a:solidFill>
                  <a:schemeClr val="dk1"/>
                </a:solidFill>
                <a:latin typeface="Arial"/>
                <a:ea typeface="Arial"/>
                <a:cs typeface="Arial"/>
                <a:sym typeface="Arial"/>
              </a:rPr>
              <a:t> </a:t>
            </a:r>
            <a:r>
              <a:rPr lang="en-US" sz="900" u="sng">
                <a:solidFill>
                  <a:schemeClr val="dk1"/>
                </a:solidFill>
                <a:latin typeface="Arial"/>
                <a:ea typeface="Arial"/>
                <a:cs typeface="Arial"/>
                <a:sym typeface="Arial"/>
                <a:hlinkClick r:id="rId4">
                  <a:extLst>
                    <a:ext uri="{A12FA001-AC4F-418D-AE19-62706E023703}">
                      <ahyp:hlinkClr val="tx"/>
                    </a:ext>
                  </a:extLst>
                </a:hlinkClick>
              </a:rPr>
              <a:t>Gorishniy et al. — Revisiting Deep Learning Models for Tabular Data (NeurIPS 2021). arXiv</a:t>
            </a:r>
            <a:endParaRPr sz="900" u="sng">
              <a:solidFill>
                <a:srgbClr val="0563C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a:p>
            <a:pPr indent="-57150" lvl="0" marL="0" marR="0" rtl="0" algn="l">
              <a:lnSpc>
                <a:spcPct val="100000"/>
              </a:lnSpc>
              <a:spcBef>
                <a:spcPts val="0"/>
              </a:spcBef>
              <a:spcAft>
                <a:spcPts val="0"/>
              </a:spcAft>
              <a:buClr>
                <a:srgbClr val="0563C1"/>
              </a:buClr>
              <a:buSzPts val="900"/>
              <a:buFont typeface="Calibri"/>
              <a:buChar char="•"/>
            </a:pPr>
            <a:r>
              <a:rPr lang="en-US" sz="900" u="sng">
                <a:solidFill>
                  <a:srgbClr val="0563C1"/>
                </a:solidFill>
                <a:latin typeface="Calibri"/>
                <a:ea typeface="Calibri"/>
                <a:cs typeface="Calibri"/>
                <a:sym typeface="Calibri"/>
              </a:rPr>
              <a:t>Strutz S, Liang H, Carey K, et al. Machine Learning for Predicting Critical Events Among Hospitalized Children. JAMA Netw Open. 2025;8(5):e2513149. doi:10.1001/jamanetworkopen.2025.13149</a:t>
            </a:r>
            <a:endParaRPr/>
          </a:p>
          <a:p>
            <a:pPr indent="0" lvl="0" marL="0" marR="0" rtl="0" algn="l">
              <a:lnSpc>
                <a:spcPct val="100000"/>
              </a:lnSpc>
              <a:spcBef>
                <a:spcPts val="0"/>
              </a:spcBef>
              <a:spcAft>
                <a:spcPts val="0"/>
              </a:spcAft>
              <a:buClr>
                <a:schemeClr val="dk1"/>
              </a:buClr>
              <a:buSzPts val="900"/>
              <a:buFont typeface="Arial"/>
              <a:buNone/>
            </a:pPr>
            <a:r>
              <a:t/>
            </a:r>
            <a:endParaRPr sz="900" u="sng">
              <a:solidFill>
                <a:srgbClr val="0563C1"/>
              </a:solidFill>
              <a:latin typeface="Calibri"/>
              <a:ea typeface="Calibri"/>
              <a:cs typeface="Calibri"/>
              <a:sym typeface="Calibri"/>
            </a:endParaRPr>
          </a:p>
          <a:p>
            <a:pPr indent="-57150" lvl="0" marL="0" marR="0" rtl="0" algn="l">
              <a:lnSpc>
                <a:spcPct val="100000"/>
              </a:lnSpc>
              <a:spcBef>
                <a:spcPts val="0"/>
              </a:spcBef>
              <a:spcAft>
                <a:spcPts val="0"/>
              </a:spcAft>
              <a:buClr>
                <a:srgbClr val="0563C1"/>
              </a:buClr>
              <a:buSzPts val="900"/>
              <a:buFont typeface="Calibri"/>
              <a:buChar char="•"/>
            </a:pPr>
            <a:r>
              <a:rPr lang="en-US" sz="900" u="sng">
                <a:solidFill>
                  <a:srgbClr val="0563C1"/>
                </a:solidFill>
                <a:latin typeface="Calibri"/>
                <a:ea typeface="Calibri"/>
                <a:cs typeface="Calibri"/>
                <a:sym typeface="Calibri"/>
              </a:rPr>
              <a:t>Thadani, Sameer MD1; Wu, Tzu-Chun PhD2; Wu, Danny T. Y. PhD2,3; Kakajiwala, Aadil MD4; Soranno, Danielle E. MD5; Cortina, Gerard MD6; Srivastava, Rachana MD7; Gist, Katja M. DO3; Menon, Shina MD8;  on behalf of the Worldwide Exploration of Renal Replacement Outcomes Collaborative in Kidney Diseases (WE-ROCK) Collaborators. Machine Learning-Based Prediction Model for ICU Mortality After Continuous Renal Replacement Therapy Initiation in Children. Critical Care Explorations 6(12):p e1188, December 2024. | DOI: 10.1097/CCE.0000000000001188 </a:t>
            </a:r>
            <a:endParaRPr/>
          </a:p>
          <a:p>
            <a:pPr indent="0" lvl="0" marL="0" marR="0" rtl="0" algn="l">
              <a:lnSpc>
                <a:spcPct val="100000"/>
              </a:lnSpc>
              <a:spcBef>
                <a:spcPts val="0"/>
              </a:spcBef>
              <a:spcAft>
                <a:spcPts val="0"/>
              </a:spcAft>
              <a:buClr>
                <a:schemeClr val="dk1"/>
              </a:buClr>
              <a:buSzPts val="900"/>
              <a:buFont typeface="Arial"/>
              <a:buNone/>
            </a:pPr>
            <a:r>
              <a:t/>
            </a:r>
            <a:endParaRPr sz="900" u="sng">
              <a:solidFill>
                <a:srgbClr val="0563C1"/>
              </a:solidFill>
              <a:latin typeface="Calibri"/>
              <a:ea typeface="Calibri"/>
              <a:cs typeface="Calibri"/>
              <a:sym typeface="Calibri"/>
            </a:endParaRPr>
          </a:p>
          <a:p>
            <a:pPr indent="-57150" lvl="0" marL="0" marR="0" rtl="0" algn="l">
              <a:lnSpc>
                <a:spcPct val="100000"/>
              </a:lnSpc>
              <a:spcBef>
                <a:spcPts val="0"/>
              </a:spcBef>
              <a:spcAft>
                <a:spcPts val="0"/>
              </a:spcAft>
              <a:buClr>
                <a:srgbClr val="0563C1"/>
              </a:buClr>
              <a:buSzPts val="900"/>
              <a:buFont typeface="Calibri"/>
              <a:buChar char="•"/>
            </a:pPr>
            <a:r>
              <a:rPr lang="en-US" sz="900" u="sng">
                <a:solidFill>
                  <a:srgbClr val="0563C1"/>
                </a:solidFill>
                <a:latin typeface="Calibri"/>
                <a:ea typeface="Calibri"/>
                <a:cs typeface="Calibri"/>
                <a:sym typeface="Calibri"/>
              </a:rPr>
              <a:t>Assaf Shmuel, Oren Glickman, Teddy Lazebnik,</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A comprehensive benchmark of machine and deep learning models on structured data for regression and classification,</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Neurocomputing,</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Volume 655,</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2025,</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131337,</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ISSN 0925-2312,</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https://doi.org/10.1016/j.neucom.2025.131337.</a:t>
            </a:r>
            <a:endParaRPr/>
          </a:p>
          <a:p>
            <a:pPr indent="0" lvl="0" marL="0" marR="0" rtl="0" algn="l">
              <a:lnSpc>
                <a:spcPct val="100000"/>
              </a:lnSpc>
              <a:spcBef>
                <a:spcPts val="0"/>
              </a:spcBef>
              <a:spcAft>
                <a:spcPts val="0"/>
              </a:spcAft>
              <a:buClr>
                <a:srgbClr val="0563C1"/>
              </a:buClr>
              <a:buSzPts val="900"/>
              <a:buFont typeface="Calibri"/>
              <a:buNone/>
            </a:pPr>
            <a:r>
              <a:rPr lang="en-US" sz="900" u="sng">
                <a:solidFill>
                  <a:srgbClr val="0563C1"/>
                </a:solidFill>
                <a:latin typeface="Calibri"/>
                <a:ea typeface="Calibri"/>
                <a:cs typeface="Calibri"/>
                <a:sym typeface="Calibri"/>
              </a:rPr>
              <a:t>(https://www.sciencedirect.com/science/article/pii/S0925231225020090)</a:t>
            </a:r>
            <a:endParaRPr/>
          </a:p>
          <a:p>
            <a:pPr indent="0" lvl="0" marL="0" marR="0" rtl="0" algn="l">
              <a:lnSpc>
                <a:spcPct val="100000"/>
              </a:lnSpc>
              <a:spcBef>
                <a:spcPts val="0"/>
              </a:spcBef>
              <a:spcAft>
                <a:spcPts val="0"/>
              </a:spcAft>
              <a:buClr>
                <a:schemeClr val="dk1"/>
              </a:buClr>
              <a:buSzPts val="900"/>
              <a:buFont typeface="Arial"/>
              <a:buNone/>
            </a:pPr>
            <a:r>
              <a:t/>
            </a:r>
            <a:endParaRPr sz="900" u="sng">
              <a:solidFill>
                <a:srgbClr val="0563C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8"/>
          <p:cNvSpPr txBox="1"/>
          <p:nvPr>
            <p:ph type="title"/>
          </p:nvPr>
        </p:nvSpPr>
        <p:spPr>
          <a:xfrm>
            <a:off x="5612959" y="1656242"/>
            <a:ext cx="2932306" cy="71307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4400"/>
              <a:buFont typeface="Arial"/>
              <a:buNone/>
            </a:pPr>
            <a:r>
              <a:rPr lang="en-US"/>
              <a:t>Thank you</a:t>
            </a:r>
            <a:endParaRPr/>
          </a:p>
        </p:txBody>
      </p:sp>
      <p:cxnSp>
        <p:nvCxnSpPr>
          <p:cNvPr id="261" name="Google Shape;261;p18"/>
          <p:cNvCxnSpPr/>
          <p:nvPr/>
        </p:nvCxnSpPr>
        <p:spPr>
          <a:xfrm>
            <a:off x="202320" y="2678654"/>
            <a:ext cx="8820000" cy="0"/>
          </a:xfrm>
          <a:prstGeom prst="straightConnector1">
            <a:avLst/>
          </a:prstGeom>
          <a:noFill/>
          <a:ln cap="flat" cmpd="sng" w="19050">
            <a:solidFill>
              <a:srgbClr val="052D59"/>
            </a:solidFill>
            <a:prstDash val="solid"/>
            <a:round/>
            <a:headEnd len="sm" w="sm" type="none"/>
            <a:tailEnd len="sm" w="sm" type="none"/>
          </a:ln>
        </p:spPr>
      </p:cxnSp>
      <p:pic>
        <p:nvPicPr>
          <p:cNvPr descr="A black and white text&#10;&#10;AI-generated content may be incorrect." id="262" name="Google Shape;262;p18"/>
          <p:cNvPicPr preferRelativeResize="0"/>
          <p:nvPr/>
        </p:nvPicPr>
        <p:blipFill rotWithShape="1">
          <a:blip r:embed="rId3">
            <a:alphaModFix/>
          </a:blip>
          <a:srcRect b="0" l="0" r="0" t="0"/>
          <a:stretch/>
        </p:blipFill>
        <p:spPr>
          <a:xfrm>
            <a:off x="95534" y="95535"/>
            <a:ext cx="1678675" cy="4917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Gradient by Slidesgo">
  <a:themeElements>
    <a:clrScheme name="Simple Light">
      <a:dk1>
        <a:srgbClr val="083C77"/>
      </a:dk1>
      <a:lt1>
        <a:srgbClr val="EBFCFF"/>
      </a:lt1>
      <a:dk2>
        <a:srgbClr val="083C77"/>
      </a:dk2>
      <a:lt2>
        <a:srgbClr val="9CE3E9"/>
      </a:lt2>
      <a:accent1>
        <a:srgbClr val="93C4E0"/>
      </a:accent1>
      <a:accent2>
        <a:srgbClr val="829EEB"/>
      </a:accent2>
      <a:accent3>
        <a:srgbClr val="FFFFFF"/>
      </a:accent3>
      <a:accent4>
        <a:srgbClr val="FFFFFF"/>
      </a:accent4>
      <a:accent5>
        <a:srgbClr val="FFFFFF"/>
      </a:accent5>
      <a:accent6>
        <a:srgbClr val="FFFFFF"/>
      </a:accent6>
      <a:hlink>
        <a:srgbClr val="083C7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